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45720" rIns="45720" tIns="18288" bIns="18288" anchor="ctr"/>
          <a:lstStyle/>
          <a:p>
            <a:pPr algn="ctr"/>
            <a:r>
              <a:rPr sz="3000" b="1">
                <a:solidFill>
                  <a:srgbClr val="1E262D"/>
                </a:solidFill>
                <a:latin typeface="Aptos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70" y="1744092"/>
            <a:ext cx="5733322" cy="4721934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E262D"/>
                </a:solidFill>
                <a:latin typeface="Aptos"/>
              </a:rPr>
              <a:t>Problem Statement ID – </a:t>
            </a:r>
            <a:r>
              <a:rPr sz="1400" b="1">
                <a:solidFill>
                  <a:srgbClr val="CD6F19"/>
                </a:solidFill>
                <a:latin typeface="Aptos"/>
              </a:rPr>
              <a:t>SIH26117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E262D"/>
                </a:solidFill>
                <a:latin typeface="Aptos"/>
              </a:rPr>
              <a:t>Problem Statement – </a:t>
            </a:r>
            <a:r>
              <a:rPr sz="1300" b="1">
                <a:solidFill>
                  <a:srgbClr val="CD6F19"/>
                </a:solidFill>
                <a:latin typeface="Aptos"/>
              </a:rPr>
              <a:t>Sovereign On-Premise Agentic AI Workbench using Open-Weight Multimodal LLMs for Confidential Industrial Work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E262D"/>
                </a:solidFill>
                <a:latin typeface="Aptos"/>
              </a:rPr>
              <a:t>Theme – </a:t>
            </a:r>
            <a:r>
              <a:rPr sz="1400" b="1">
                <a:solidFill>
                  <a:srgbClr val="CD6F19"/>
                </a:solidFill>
                <a:latin typeface="Aptos"/>
              </a:rPr>
              <a:t>Smart Automation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E262D"/>
                </a:solidFill>
                <a:latin typeface="Aptos"/>
              </a:rPr>
              <a:t>PS Category – </a:t>
            </a:r>
            <a:r>
              <a:rPr sz="1400" b="1">
                <a:solidFill>
                  <a:srgbClr val="CD6F19"/>
                </a:solidFill>
                <a:latin typeface="Aptos"/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E262D"/>
                </a:solidFill>
                <a:latin typeface="Aptos"/>
              </a:rPr>
              <a:t>Team ID – </a:t>
            </a:r>
            <a:r>
              <a:rPr sz="1400" b="1">
                <a:solidFill>
                  <a:srgbClr val="CD6F19"/>
                </a:solidFill>
                <a:latin typeface="Aptos"/>
              </a:rPr>
              <a:t>[ENTER REGISTERED TEAM ID]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E262D"/>
                </a:solidFill>
                <a:latin typeface="Aptos"/>
              </a:rPr>
              <a:t>Team Name – </a:t>
            </a:r>
            <a:r>
              <a:rPr sz="1400" b="1">
                <a:solidFill>
                  <a:srgbClr val="CD6F19"/>
                </a:solidFill>
                <a:latin typeface="Aptos"/>
              </a:rPr>
              <a:t>Sovereign Forge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1304"/>
            <a:ext cx="2743200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5E96"/>
                </a:solidFill>
                <a:latin typeface="Aptos"/>
              </a:rPr>
              <a:t>IDEA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199"/>
            <a:ext cx="10241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E262D"/>
                </a:solidFill>
                <a:latin typeface="Aptos"/>
              </a:rPr>
              <a:t>SOVARA: Private AI for confidential industrial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42675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0644" y="1502416"/>
            <a:ext cx="5166360" cy="452628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94392"/>
            <a:ext cx="4764024" cy="3693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AF4141"/>
                </a:solidFill>
                <a:latin typeface="Aptos"/>
              </a:rPr>
              <a:t>THE INDUSTRIAL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" y="2098406"/>
            <a:ext cx="4493995" cy="64633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262D"/>
                </a:solidFill>
                <a:latin typeface="Aptos"/>
              </a:rPr>
              <a:t>• Confidential SOPs, manuals, inspection reports and engineering drawings
• P&amp;IDs, photographs, spreadsheets and asset/process data
• Cloud AI can introduce confidentiality, leakage and compliance concerns
• Industrial decisions require evidence, tools and human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79419"/>
            <a:ext cx="4782312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 smtClean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P&amp;IDs, photographs, spreadsheets and asset/process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" y="3760270"/>
            <a:ext cx="478231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External AI services can create confidentiality, leakage and compliance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835942"/>
            <a:ext cx="47823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Industrial work also needs evidence, tools and controlled decision-making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458748"/>
            <a:ext cx="5577840" cy="45262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626002"/>
            <a:ext cx="5175503" cy="3693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D875B"/>
                </a:solidFill>
                <a:latin typeface="Aptos"/>
              </a:rPr>
              <a:t>THE SOVARA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6188" y="2309297"/>
            <a:ext cx="5193792" cy="64633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50" b="0">
                <a:solidFill>
                  <a:srgbClr val="1E262D"/>
                </a:solidFill>
                <a:latin typeface="Aptos"/>
              </a:rPr>
              <a:t>• On-premise agentic AI workbench for confidential industrial operations
• Local open-weight LLM/VLM + OCR + RAG + execution tools
• Fast capability routing → planning when needed → controlled execution
• Evidence + verification + risk checks before controlled output
• Human review for uncertain or high-risk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188" y="3054955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Local open-weight LLM/VLM, OCR, RAG and execution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6188" y="3899939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Multi-step planning → tool use → evidence → verification →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188" y="4734331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Human review remains part of the workflow for uncertain/high-risk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144768"/>
            <a:ext cx="10972800" cy="310896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6208776"/>
            <a:ext cx="10652760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E5E96"/>
                </a:solidFill>
                <a:latin typeface="Aptos"/>
              </a:rPr>
              <a:t>CONFIDENTIAL DATA  →  SOVARA  →  LOCAL AI + TOOLS  →  VERIFIED EVIDENCE  →  CONTROLLED OUTPUT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216" y="-26492"/>
            <a:ext cx="1619719" cy="7648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5E96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1E262D"/>
                </a:solidFill>
                <a:latin typeface="Aptos"/>
              </a:rPr>
              <a:t>From a natural-language request to a controlled industrial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Request + 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78024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96896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96896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Fast capability routing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97096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61688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0560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Complex tasks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45352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64224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4224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Local tools / models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64424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9016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47888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Evidence + grounding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48088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12680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131552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31552" y="1682496"/>
            <a:ext cx="347472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E5E96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1552" y="2057400"/>
            <a:ext cx="1481328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262D"/>
                </a:solidFill>
                <a:latin typeface="Aptos"/>
              </a:rPr>
              <a:t>DECIDE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1552" y="2359152"/>
            <a:ext cx="1481328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5A6269"/>
                </a:solidFill>
                <a:latin typeface="Aptos"/>
              </a:rPr>
              <a:t>Risk + human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063240"/>
            <a:ext cx="10972800" cy="197510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60472" y="3063240"/>
            <a:ext cx="3144416" cy="64633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5E96"/>
                </a:solidFill>
                <a:latin typeface="Aptos"/>
              </a:rPr>
              <a:t>LOCAL CAPABILITY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3703320"/>
            <a:ext cx="658368" cy="3693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LLM</a:t>
            </a:r>
            <a:endParaRPr b="1" dirty="0">
              <a:solidFill>
                <a:srgbClr val="218FA0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467612" y="3727966"/>
            <a:ext cx="2606040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Qwen3:4B • Gemma3:4B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4402" y="3693950"/>
            <a:ext cx="658368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VLM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4429" y="3693950"/>
            <a:ext cx="2606040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Qwen2.5-VL:3B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8" y="3703320"/>
            <a:ext cx="658368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3940" y="3695443"/>
            <a:ext cx="2606040" cy="58477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Nomic Embed • Qdrant</a:t>
            </a:r>
            <a:endParaRPr lang="en-US" sz="1600" dirty="0">
              <a:solidFill>
                <a:srgbClr val="18222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1248" y="4361688"/>
            <a:ext cx="658368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OCR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41417" y="4320766"/>
            <a:ext cx="2606040" cy="3693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EasyOCR + PyTorch</a:t>
            </a:r>
            <a:endParaRPr b="0" dirty="0">
              <a:solidFill>
                <a:srgbClr val="18222A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42816" y="4358794"/>
            <a:ext cx="1059584" cy="3693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2993" y="4393025"/>
            <a:ext cx="2606040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Python • Excel • Files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0554" y="4362248"/>
            <a:ext cx="1094667" cy="33855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E5E96"/>
                </a:solidFill>
                <a:latin typeface="Aptos"/>
              </a:rPr>
              <a:t>OUTPUT</a:t>
            </a:r>
            <a:endParaRPr sz="1600" b="1" dirty="0">
              <a:solidFill>
                <a:srgbClr val="218FA0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86264" y="4299500"/>
            <a:ext cx="2606040" cy="58477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19" b="0">
                <a:solidFill>
                  <a:srgbClr val="1E262D"/>
                </a:solidFill>
                <a:latin typeface="Aptos"/>
              </a:rPr>
              <a:t>DOCX • XLSX • PPTX • PDF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687567"/>
            <a:ext cx="11137392" cy="943653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ED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4088" y="5443607"/>
            <a:ext cx="10515600" cy="83099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D875B"/>
                </a:solidFill>
                <a:latin typeface="Aptos"/>
              </a:rPr>
              <a:t>Key idea: the LLM coordinates local capabilities; deterministic tools perform calculations and file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0777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5E96"/>
                </a:solidFill>
                <a:latin typeface="Aptos"/>
              </a:rP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1E262D"/>
                </a:solidFill>
                <a:latin typeface="Aptos"/>
              </a:rPr>
              <a:t>Practical today — with a clear path to industrial deployment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3" y="1394366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522476"/>
            <a:ext cx="6583680" cy="45262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79" y="1645920"/>
            <a:ext cx="3657600" cy="646331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D875B"/>
                </a:solidFill>
                <a:latin typeface="Aptos"/>
              </a:rPr>
              <a:t>FEASIBLE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17606"/>
            <a:ext cx="1261872" cy="566928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50" b="0">
                <a:solidFill>
                  <a:srgbClr val="1E262D"/>
                </a:solidFill>
                <a:latin typeface="Aptos"/>
              </a:rPr>
              <a:t>• Local LLM/VLM inference
• Local RAG + Qdrant
• Local OCR + PDF/image processing
• Real XLSX analysis + document generation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124" y="2435895"/>
            <a:ext cx="111556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8222A"/>
                </a:solidFill>
                <a:latin typeface="Aptos"/>
              </a:rPr>
              <a:t>P&amp;ID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95043" y="2821460"/>
            <a:ext cx="1316736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40" y="2299557"/>
            <a:ext cx="1261872" cy="56692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0592" y="2352228"/>
            <a:ext cx="111556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Scanned PDF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16352" y="2904555"/>
            <a:ext cx="192024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79" y="2289265"/>
            <a:ext cx="1261872" cy="56692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50" b="0">
                <a:solidFill>
                  <a:srgbClr val="1E262D"/>
                </a:solidFill>
                <a:latin typeface="Aptos"/>
              </a:rPr>
              <a:t>• Limited laptop GPU memory
• Local inference latency on complex tasks
• P&amp;ID accuracy depends on image quality
• Production sandbox isolation still required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0209" y="2426287"/>
            <a:ext cx="11155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8222A"/>
                </a:solidFill>
                <a:latin typeface="Aptos"/>
              </a:rPr>
              <a:t>Image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882133" y="2811480"/>
            <a:ext cx="1700784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58384" y="2317606"/>
            <a:ext cx="1261872" cy="566928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9825" y="2463515"/>
            <a:ext cx="1115568" cy="276999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5E96"/>
                </a:solidFill>
                <a:latin typeface="Aptos"/>
              </a:rPr>
              <a:t>MITIGATION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911431" y="2820781"/>
            <a:ext cx="3209543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33372" y="3336491"/>
            <a:ext cx="3063240" cy="62179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02536" y="3488666"/>
            <a:ext cx="2724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2A6FB0"/>
                </a:solidFill>
                <a:latin typeface="Aptos"/>
              </a:rPr>
              <a:t>LOCAL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352" y="438558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dirty="0">
                <a:solidFill>
                  <a:srgbClr val="5B6974"/>
                </a:solidFill>
                <a:latin typeface="Aptos"/>
              </a:rPr>
              <a:t>OCR  •  parsing  •  VLM  •  structured extraction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64992" y="3877801"/>
            <a:ext cx="0" cy="457200"/>
          </a:xfrm>
          <a:prstGeom prst="line">
            <a:avLst/>
          </a:prstGeom>
          <a:ln w="1905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422638" y="4709160"/>
            <a:ext cx="3886200" cy="62179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E262D"/>
                </a:solidFill>
                <a:latin typeface="Aptos"/>
              </a:rPr>
              <a:t>Real browser ↔ FastAPI • file upload • RAG • VLM/OCR • XLSX analysis • verification/risk • DOCX generation</a:t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9376" y="4807957"/>
            <a:ext cx="34747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368F58"/>
                </a:solidFill>
                <a:latin typeface="Aptos"/>
              </a:rPr>
              <a:t>EVIDENCE FOR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" y="5498249"/>
            <a:ext cx="580644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BE7D19"/>
                </a:solidFill>
                <a:latin typeface="Aptos"/>
              </a:rPr>
              <a:t>Current prototype uses local execution; physical air-gap and production sandboxing remain deployment requirements.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6024" y="1522476"/>
            <a:ext cx="4206240" cy="45262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8545068" y="1686976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18FA0"/>
                </a:solidFill>
                <a:latin typeface="Aptos"/>
              </a:rPr>
              <a:t>LOCAL 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084831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2194560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131113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103120"/>
            <a:ext cx="22402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B6974"/>
                </a:solidFill>
                <a:latin typeface="Aptos"/>
              </a:rPr>
              <a:t>SOPs / manuals /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07808" y="2743200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07808" y="2852928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761488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761488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nomic-embed-text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3401568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07808" y="351129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419856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Retrieve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419856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Qdrant local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07808" y="4059935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8" y="4169663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078223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078223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Relevant evidence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07808" y="4718303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07808" y="4828031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736591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Cite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736591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Traceable answer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7808" y="5285232"/>
            <a:ext cx="3703320" cy="429768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FCF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22108" y="5356398"/>
            <a:ext cx="3474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BE7E1A"/>
                </a:solidFill>
                <a:latin typeface="Aptos"/>
              </a:rPr>
              <a:t>Insufficient evidence → no invented fact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228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5E96"/>
                </a:solidFill>
                <a:latin typeface="Aptos"/>
              </a:rP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E262D"/>
                </a:solidFill>
                <a:latin typeface="Aptos"/>
              </a:rPr>
              <a:t>Turning fragmented industrial evidence into controlled assistance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29053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17320"/>
            <a:ext cx="2450592" cy="82296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18488"/>
            <a:ext cx="2231136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E262D"/>
                </a:solidFill>
                <a:latin typeface="Aptos"/>
              </a:rPr>
              <a:t>P&amp;ID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2231136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A6269"/>
                </a:solidFill>
                <a:latin typeface="Aptos"/>
              </a:rPr>
              <a:t>VLM / OCR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450592" cy="822960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618488"/>
            <a:ext cx="2231136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E262D"/>
                </a:solidFill>
                <a:latin typeface="Aptos"/>
              </a:rPr>
              <a:t>Inspection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901952"/>
            <a:ext cx="2231136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A6269"/>
                </a:solidFill>
                <a:latin typeface="Aptos"/>
              </a:rPr>
              <a:t>PDF / 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2450592" cy="8229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618488"/>
            <a:ext cx="2231136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E262D"/>
                </a:solidFill>
                <a:latin typeface="Aptos"/>
              </a:rPr>
              <a:t>Vibration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901952"/>
            <a:ext cx="2231136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A6269"/>
                </a:solidFill>
                <a:latin typeface="Aptos"/>
              </a:rPr>
              <a:t>Excel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450592" cy="822960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BE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618488"/>
            <a:ext cx="2231136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E262D"/>
                </a:solidFill>
                <a:latin typeface="Aptos"/>
              </a:rPr>
              <a:t>Maintenance 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901952"/>
            <a:ext cx="2231136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A6269"/>
                </a:solidFill>
                <a:latin typeface="Aptos"/>
              </a:rPr>
              <a:t>RAG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33172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6FB0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724912"/>
            <a:ext cx="9052560" cy="64008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7632" y="2935224"/>
            <a:ext cx="8641080" cy="1828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E5E96"/>
                </a:solidFill>
                <a:latin typeface="Aptos"/>
              </a:rPr>
              <a:t>SOVARA WORKFLOW  •  ROUTE → EXECUTE → SYNTHESIZE → VERIFY → RISK / HUMAN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3364992"/>
            <a:ext cx="0" cy="338328"/>
          </a:xfrm>
          <a:prstGeom prst="line">
            <a:avLst/>
          </a:prstGeom>
          <a:ln w="1905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995928"/>
            <a:ext cx="128016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1E5E96"/>
                </a:solidFill>
                <a:latin typeface="Aptos"/>
              </a:rPr>
              <a:t>TARGET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315968"/>
            <a:ext cx="2788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E262D"/>
                </a:solidFill>
                <a:latin typeface="Aptos"/>
              </a:rPr>
              <a:t>Maintenance engineers
Engineering teams
Process / operations teams
Industrial knowledge workers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4528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995928"/>
            <a:ext cx="15544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2D875B"/>
                </a:solidFill>
                <a:latin typeface="Aptos"/>
              </a:rPr>
              <a:t>KEY 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15968"/>
            <a:ext cx="2788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60" b="0">
                <a:solidFill>
                  <a:srgbClr val="1E262D"/>
                </a:solidFill>
                <a:latin typeface="Aptos"/>
              </a:rPr>
              <a:t>Security &amp; control — confidential knowledge can remain on enterprise infrastructure.
Productivity — reduces manual effort across document, spreadsheet and knowledge workflows.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7" y="3995928"/>
            <a:ext cx="1097280" cy="2011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BE7D19"/>
                </a:solidFill>
                <a:latin typeface="Aptos"/>
              </a:rPr>
              <a:t>INDUSTRIAL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27889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60" b="0">
                <a:solidFill>
                  <a:srgbClr val="1E262D"/>
                </a:solidFill>
                <a:latin typeface="Aptos"/>
              </a:rPr>
              <a:t>Engineering support — connects drawings, reports, procedures and structured data.
Decision support — verification, risk classification and human review for high-stakes work.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13432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43600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64624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743200" y="5230368"/>
            <a:ext cx="6400800" cy="603504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71800" y="543153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8F58"/>
                </a:solidFill>
                <a:latin typeface="Aptos"/>
              </a:rPr>
              <a:t>Approval_Note.docx  •  generated locally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2267712" cy="1463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80" b="1">
                <a:solidFill>
                  <a:srgbClr val="2D875B"/>
                </a:solidFill>
                <a:latin typeface="Aptos"/>
              </a:rPr>
              <a:t>REAL LOCAL STACK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6144768"/>
            <a:ext cx="2267712" cy="1463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80" b="1">
                <a:solidFill>
                  <a:srgbClr val="2D875B"/>
                </a:solidFill>
                <a:latin typeface="Aptos"/>
              </a:rPr>
              <a:t>MULTIMODAL + RAG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6144768"/>
            <a:ext cx="2267712" cy="1463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80" b="1">
                <a:solidFill>
                  <a:srgbClr val="2D875B"/>
                </a:solidFill>
                <a:latin typeface="Aptos"/>
              </a:rPr>
              <a:t>TOOL EXECUTION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15400" y="6144768"/>
            <a:ext cx="2267712" cy="1463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80" b="1">
                <a:solidFill>
                  <a:srgbClr val="2D875B"/>
                </a:solidFill>
                <a:latin typeface="Aptos"/>
              </a:rPr>
              <a:t>HUMAN-CONTROLLED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228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5E96"/>
                </a:solidFill>
                <a:latin typeface="Aptos"/>
              </a:rP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1E262D"/>
                </a:solidFill>
                <a:latin typeface="Aptos"/>
              </a:rPr>
              <a:t>Research and evaluation foundation for industrial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383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974"/>
                </a:solidFill>
                <a:latin typeface="Aptos"/>
              </a:rPr>
              <a:t>06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89888"/>
            <a:ext cx="3474720" cy="20574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68F58"/>
                </a:solidFill>
                <a:latin typeface="Aptos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browser ↔ FastAPI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file upload, RAG, VLM, OCR and XLSX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verification, risk state and DOCX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389888"/>
            <a:ext cx="3474720" cy="2057400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E7E1A"/>
                </a:solidFill>
                <a:latin typeface="Aptos"/>
              </a:rPr>
              <a:t>CURRENT CONSIDERATIONS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Local CPU/GPU inference can be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Docker sandbox preferred for final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P&amp;ID accuracy depends on image 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4696" y="1389888"/>
            <a:ext cx="3474720" cy="205740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55864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6FB0"/>
                </a:solidFill>
                <a:latin typeface="Aptos"/>
              </a:rPr>
              <a:t>INDUSTRIAL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Maintenance &amp; inspections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Engineering knowledge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Process operations &amp; enterprise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6400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931920"/>
            <a:ext cx="2377440" cy="228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1E5E96"/>
                </a:solidFill>
                <a:latin typeface="Aptos"/>
              </a:rPr>
              <a:t>RESEARCH / EVALUATION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70832"/>
            <a:ext cx="580644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40" b="0">
                <a:solidFill>
                  <a:srgbClr val="1E262D"/>
                </a:solidFill>
                <a:latin typeface="Aptos"/>
              </a:rPr>
              <a:t>• Tennessee Eastman Process — industrial fault detection / decision support
• Centrifugal Pump Multi-Fault Vibration Dataset — pump condition monitoring
• PIDQA — P&amp;ID visual question answering
• PID2Graph — P&amp;ID relationship / graph reasoning
• NASA IMS Bearings — condition monitoring evaluation
• AI4I 2020 — predictive maintenance 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468112"/>
            <a:ext cx="5897880" cy="347472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FCF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559552"/>
            <a:ext cx="5669280" cy="1554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1E5E96"/>
                </a:solidFill>
                <a:latin typeface="Aptos"/>
              </a:rPr>
              <a:t>Evaluation datasets only — NOT used for LLM fine-tuning.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703320"/>
            <a:ext cx="4343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0648" y="3931920"/>
            <a:ext cx="2926080" cy="228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1E5E96"/>
                </a:solidFill>
                <a:latin typeface="Aptos"/>
              </a:rPr>
              <a:t>TECHNICAL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4343400"/>
            <a:ext cx="3749039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40" b="0">
                <a:solidFill>
                  <a:srgbClr val="1E262D"/>
                </a:solidFill>
                <a:latin typeface="Aptos"/>
              </a:rPr>
              <a:t>• Ollama — local model serving
• Qdrant — local vector database
• LangGraph — agent workflow orchestration
• EasyOCR / PyTorch — local OCR
• Qwen / Qwen2.5-VL — open-weight local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4654296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Tennessee Eastman Process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496519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PIDQA — P&amp;ID visual question answering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5276088"/>
            <a:ext cx="3749039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2D875B"/>
                </a:solidFill>
                <a:latin typeface="Aptos"/>
              </a:rPr>
              <a:t>EVALUATION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5586983"/>
            <a:ext cx="3749039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30" b="0">
                <a:solidFill>
                  <a:srgbClr val="1E262D"/>
                </a:solidFill>
                <a:latin typeface="Aptos"/>
              </a:rPr>
              <a:t>Retrieval • evidence relevance • citation correctness • groundedness • tool execution • OCR/P&amp;ID • verification • risk • end-to-end success •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5733288"/>
            <a:ext cx="3749039" cy="1645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80" b="1">
                <a:solidFill>
                  <a:srgbClr val="BE7D19"/>
                </a:solidFill>
                <a:latin typeface="Aptos"/>
              </a:rPr>
              <a:t>Benchmarking is iterative; corrected evaluation is maintained separately from the original stress run.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19088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7608</TotalTime>
  <Words>595</Words>
  <Application>Microsoft Office PowerPoint</Application>
  <PresentationFormat>Widescreen</PresentationFormat>
  <Paragraphs>140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SOVARA — SIH 2026 Light Theme</dc:title>
  <dc:subject>Sovereign On-Premise Agentic AI Workbench</dc:subject>
  <dc:creator>Crowdfunder</dc:creator>
  <cp:keywords/>
  <dc:description/>
  <cp:lastModifiedBy>HARKANWAL</cp:lastModifiedBy>
  <cp:revision>155</cp:revision>
  <dcterms:created xsi:type="dcterms:W3CDTF">2013-12-12T18:46:50Z</dcterms:created>
  <dcterms:modified xsi:type="dcterms:W3CDTF">2026-09-11T09:17:10Z</dcterms:modified>
  <cp:category/>
</cp:coreProperties>
</file>