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6270" y="1744092"/>
            <a:ext cx="5733322" cy="4721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SIH26117</a:t>
            </a:r>
            <a:endParaRPr lang="en-US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Statement -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Sovereign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On-Premise Agentic AI Workbench using Open-Weight Multimodal LLMs for Confidential Industrial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Work</a:t>
            </a:r>
            <a:endParaRPr lang="en-US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Smart Automation</a:t>
            </a:r>
            <a:endParaRPr lang="en-US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Name-</a:t>
            </a:r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Sovereign Forge</a:t>
            </a:r>
            <a:endParaRPr lang="en-IN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1304"/>
            <a:ext cx="2743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2A6FB0"/>
                </a:solidFill>
                <a:latin typeface="Aptos"/>
              </a:rPr>
              <a:t>IDEA /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199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dirty="0">
                <a:solidFill>
                  <a:srgbClr val="18222A"/>
                </a:solidFill>
                <a:latin typeface="Aptos"/>
              </a:rPr>
              <a:t>SOVARA keeps confidential industrial intelligence inside the enterprise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42675"/>
            <a:ext cx="10972800" cy="0"/>
          </a:xfrm>
          <a:prstGeom prst="line">
            <a:avLst/>
          </a:prstGeom>
          <a:ln w="15240">
            <a:solidFill>
              <a:srgbClr val="DA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80644" y="1502416"/>
            <a:ext cx="5166360" cy="4526280"/>
          </a:xfrm>
          <a:prstGeom prst="roundRect">
            <a:avLst/>
          </a:prstGeom>
          <a:solidFill>
            <a:srgbClr val="FCEFE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594392"/>
            <a:ext cx="4764024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 i="1" dirty="0">
                <a:solidFill>
                  <a:srgbClr val="BE4343"/>
                </a:solidFill>
                <a:latin typeface="Aptos"/>
              </a:rPr>
              <a:t>THE INDUSTRIAL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8" y="2098406"/>
            <a:ext cx="4493995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18222A"/>
                </a:solidFill>
                <a:latin typeface="Aptos"/>
              </a:rPr>
              <a:t>• </a:t>
            </a:r>
            <a:r>
              <a:rPr b="0" dirty="0">
                <a:solidFill>
                  <a:srgbClr val="18222A"/>
                </a:solidFill>
                <a:latin typeface="Aptos"/>
              </a:rPr>
              <a:t>Sensitive SOPs, manuals, inspection reports and engineering drawings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879419"/>
            <a:ext cx="4782312" cy="6771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 smtClean="0">
                <a:solidFill>
                  <a:srgbClr val="18222A"/>
                </a:solidFill>
                <a:latin typeface="Aptos"/>
              </a:rPr>
              <a:t>• </a:t>
            </a:r>
            <a:r>
              <a:rPr b="0" dirty="0">
                <a:solidFill>
                  <a:srgbClr val="18222A"/>
                </a:solidFill>
                <a:latin typeface="Aptos"/>
              </a:rPr>
              <a:t>P&amp;IDs, photographs, spreadsheets and asset/process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8" y="3760270"/>
            <a:ext cx="4782312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18222A"/>
                </a:solidFill>
                <a:latin typeface="Aptos"/>
              </a:rPr>
              <a:t>• </a:t>
            </a:r>
            <a:r>
              <a:rPr b="0" dirty="0">
                <a:solidFill>
                  <a:srgbClr val="18222A"/>
                </a:solidFill>
                <a:latin typeface="Aptos"/>
              </a:rPr>
              <a:t>External AI services can create confidentiality, leakage and compliance concerns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4835942"/>
            <a:ext cx="4782312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18222A"/>
                </a:solidFill>
                <a:latin typeface="Aptos"/>
              </a:rPr>
              <a:t>• </a:t>
            </a:r>
            <a:r>
              <a:rPr b="0" dirty="0">
                <a:solidFill>
                  <a:srgbClr val="18222A"/>
                </a:solidFill>
                <a:latin typeface="Aptos"/>
              </a:rPr>
              <a:t>Industrial work also needs evidence, tools and controlled decision-making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61888" y="1458748"/>
            <a:ext cx="5577840" cy="4526280"/>
          </a:xfrm>
          <a:prstGeom prst="roundRect">
            <a:avLst/>
          </a:prstGeom>
          <a:solidFill>
            <a:srgbClr val="EDF8F1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61888" y="1626002"/>
            <a:ext cx="5175503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 i="1" dirty="0">
                <a:solidFill>
                  <a:srgbClr val="368F58"/>
                </a:solidFill>
                <a:latin typeface="Aptos"/>
              </a:rPr>
              <a:t>THE SOVARA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76188" y="2309297"/>
            <a:ext cx="5193792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solidFill>
                  <a:srgbClr val="18222A"/>
                </a:solidFill>
                <a:latin typeface="Aptos"/>
              </a:rPr>
              <a:t>• On-premise agentic AI workbench for confidential industrial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76188" y="3054955"/>
            <a:ext cx="5193792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solidFill>
                  <a:srgbClr val="18222A"/>
                </a:solidFill>
                <a:latin typeface="Aptos"/>
              </a:rPr>
              <a:t>• Local open-weight LLM/VLM, OCR, RAG and execution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76188" y="3899939"/>
            <a:ext cx="5193792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solidFill>
                  <a:srgbClr val="18222A"/>
                </a:solidFill>
                <a:latin typeface="Aptos"/>
              </a:rPr>
              <a:t>• Multi-step planning → tool use → evidence → verification →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6188" y="4734331"/>
            <a:ext cx="5193792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solidFill>
                  <a:srgbClr val="18222A"/>
                </a:solidFill>
                <a:latin typeface="Aptos"/>
              </a:rPr>
              <a:t>• Human review remains part of the workflow for uncertain/high-risk cases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6144768"/>
            <a:ext cx="10972800" cy="310896"/>
          </a:xfrm>
          <a:prstGeom prst="roundRect">
            <a:avLst/>
          </a:prstGeom>
          <a:solidFill>
            <a:srgbClr val="EBF4FB"/>
          </a:solidFill>
          <a:ln w="12700">
            <a:solidFill>
              <a:srgbClr val="EB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" y="6208776"/>
            <a:ext cx="10652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>
                <a:solidFill>
                  <a:srgbClr val="2A6FB0"/>
                </a:solidFill>
                <a:latin typeface="Aptos"/>
              </a:rPr>
              <a:t>CONFIDENTIAL DATA  →  SOVARA  →  LOCAL AI + TOOLS  →  VERIFIED EVIDENCE  →  CONTROLLED OUTPUT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0216" y="-26492"/>
            <a:ext cx="1619719" cy="7648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2743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2A6FB0"/>
                </a:solidFill>
                <a:latin typeface="Aptos"/>
              </a:rPr>
              <a:t>TECHNICAL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8222A"/>
                </a:solidFill>
                <a:latin typeface="Aptos"/>
              </a:rPr>
              <a:t>From a natural-language request to a controlled industrial action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170432"/>
            <a:ext cx="10972800" cy="0"/>
          </a:xfrm>
          <a:prstGeom prst="line">
            <a:avLst/>
          </a:prstGeom>
          <a:ln w="15240">
            <a:solidFill>
              <a:srgbClr val="DA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94360" y="1481328"/>
            <a:ext cx="171907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13232" y="1609344"/>
            <a:ext cx="347472" cy="347472"/>
          </a:xfrm>
          <a:prstGeom prst="roundRect">
            <a:avLst/>
          </a:prstGeom>
          <a:solidFill>
            <a:srgbClr val="EBF4FB"/>
          </a:solidFill>
          <a:ln w="12700">
            <a:solidFill>
              <a:srgbClr val="EB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682496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2A6FB0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057400"/>
            <a:ext cx="1481328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>
                <a:solidFill>
                  <a:srgbClr val="18222A"/>
                </a:solidFill>
                <a:latin typeface="Aptos"/>
              </a:rPr>
              <a:t>UNDERSTAND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359152"/>
            <a:ext cx="14813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dirty="0">
                <a:solidFill>
                  <a:srgbClr val="5B6974"/>
                </a:solidFill>
                <a:latin typeface="Aptos"/>
              </a:rPr>
              <a:t>User request + files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13432" y="2130552"/>
            <a:ext cx="164592" cy="0"/>
          </a:xfrm>
          <a:prstGeom prst="line">
            <a:avLst/>
          </a:prstGeom>
          <a:ln w="22860">
            <a:solidFill>
              <a:srgbClr val="2A6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78024" y="1481328"/>
            <a:ext cx="171907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596896" y="1609344"/>
            <a:ext cx="347472" cy="347472"/>
          </a:xfrm>
          <a:prstGeom prst="roundRect">
            <a:avLst/>
          </a:prstGeom>
          <a:solidFill>
            <a:srgbClr val="EBF4FB"/>
          </a:solidFill>
          <a:ln w="12700">
            <a:solidFill>
              <a:srgbClr val="EB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96896" y="1682496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2A6FB0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6896" y="2057400"/>
            <a:ext cx="1481328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>
                <a:solidFill>
                  <a:srgbClr val="18222A"/>
                </a:solidFill>
                <a:latin typeface="Aptos"/>
              </a:rPr>
              <a:t>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96896" y="2359152"/>
            <a:ext cx="14813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dirty="0" err="1">
                <a:solidFill>
                  <a:srgbClr val="5B6974"/>
                </a:solidFill>
                <a:latin typeface="Aptos"/>
              </a:rPr>
              <a:t>LangGraph</a:t>
            </a:r>
            <a:r>
              <a:rPr sz="850" b="0" dirty="0">
                <a:solidFill>
                  <a:srgbClr val="5B6974"/>
                </a:solidFill>
                <a:latin typeface="Aptos"/>
              </a:rPr>
              <a:t> planner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97096" y="2130552"/>
            <a:ext cx="164592" cy="0"/>
          </a:xfrm>
          <a:prstGeom prst="line">
            <a:avLst/>
          </a:prstGeom>
          <a:ln w="22860">
            <a:solidFill>
              <a:srgbClr val="2A6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61688" y="1481328"/>
            <a:ext cx="171907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480560" y="1609344"/>
            <a:ext cx="347472" cy="347472"/>
          </a:xfrm>
          <a:prstGeom prst="roundRect">
            <a:avLst/>
          </a:prstGeom>
          <a:solidFill>
            <a:srgbClr val="EBF4FB"/>
          </a:solidFill>
          <a:ln w="12700">
            <a:solidFill>
              <a:srgbClr val="EB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80560" y="1682496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2A6FB0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057400"/>
            <a:ext cx="1481328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8222A"/>
                </a:solidFill>
                <a:latin typeface="Aptos"/>
              </a:rPr>
              <a:t>ROUTE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359152"/>
            <a:ext cx="14813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5B6974"/>
                </a:solidFill>
                <a:latin typeface="Aptos"/>
              </a:rPr>
              <a:t>Choose capability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80760" y="2130552"/>
            <a:ext cx="164592" cy="0"/>
          </a:xfrm>
          <a:prstGeom prst="line">
            <a:avLst/>
          </a:prstGeom>
          <a:ln w="22860">
            <a:solidFill>
              <a:srgbClr val="2A6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245352" y="1481328"/>
            <a:ext cx="171907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364224" y="1609344"/>
            <a:ext cx="347472" cy="347472"/>
          </a:xfrm>
          <a:prstGeom prst="roundRect">
            <a:avLst/>
          </a:prstGeom>
          <a:solidFill>
            <a:srgbClr val="EBF4FB"/>
          </a:solidFill>
          <a:ln w="12700">
            <a:solidFill>
              <a:srgbClr val="EB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64224" y="1682496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2A6FB0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4224" y="2057400"/>
            <a:ext cx="1481328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>
                <a:solidFill>
                  <a:srgbClr val="18222A"/>
                </a:solidFill>
                <a:latin typeface="Aptos"/>
              </a:rPr>
              <a:t>EXECUTE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4224" y="2359152"/>
            <a:ext cx="14813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dirty="0">
                <a:solidFill>
                  <a:srgbClr val="5B6974"/>
                </a:solidFill>
                <a:latin typeface="Aptos"/>
              </a:rPr>
              <a:t>Local tools/models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964424" y="2130552"/>
            <a:ext cx="164592" cy="0"/>
          </a:xfrm>
          <a:prstGeom prst="line">
            <a:avLst/>
          </a:prstGeom>
          <a:ln w="22860">
            <a:solidFill>
              <a:srgbClr val="2A6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129016" y="1481328"/>
            <a:ext cx="171907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247888" y="1609344"/>
            <a:ext cx="347472" cy="347472"/>
          </a:xfrm>
          <a:prstGeom prst="roundRect">
            <a:avLst/>
          </a:prstGeom>
          <a:solidFill>
            <a:srgbClr val="EBF4FB"/>
          </a:solidFill>
          <a:ln w="12700">
            <a:solidFill>
              <a:srgbClr val="EB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47888" y="1682496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2A6FB0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47888" y="2057400"/>
            <a:ext cx="1481328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>
                <a:solidFill>
                  <a:srgbClr val="18222A"/>
                </a:solidFill>
                <a:latin typeface="Aptos"/>
              </a:rPr>
              <a:t>VERIFY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7888" y="2359152"/>
            <a:ext cx="14813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5B6974"/>
                </a:solidFill>
                <a:latin typeface="Aptos"/>
              </a:rPr>
              <a:t>Evidence + grounding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848088" y="2130552"/>
            <a:ext cx="164592" cy="0"/>
          </a:xfrm>
          <a:prstGeom prst="line">
            <a:avLst/>
          </a:prstGeom>
          <a:ln w="22860">
            <a:solidFill>
              <a:srgbClr val="2A6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0012680" y="1481328"/>
            <a:ext cx="171907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0131552" y="1609344"/>
            <a:ext cx="347472" cy="347472"/>
          </a:xfrm>
          <a:prstGeom prst="roundRect">
            <a:avLst/>
          </a:prstGeom>
          <a:solidFill>
            <a:srgbClr val="EBF4FB"/>
          </a:solidFill>
          <a:ln w="12700">
            <a:solidFill>
              <a:srgbClr val="EB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131552" y="1682496"/>
            <a:ext cx="3474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2A6FB0"/>
                </a:solidFill>
                <a:latin typeface="Aptos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31552" y="2057400"/>
            <a:ext cx="1481328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>
                <a:solidFill>
                  <a:srgbClr val="18222A"/>
                </a:solidFill>
                <a:latin typeface="Aptos"/>
              </a:rPr>
              <a:t>DECIDE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31552" y="2359152"/>
            <a:ext cx="14813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dirty="0">
                <a:solidFill>
                  <a:srgbClr val="5B6974"/>
                </a:solidFill>
                <a:latin typeface="Aptos"/>
              </a:rPr>
              <a:t>Risk + human review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" y="3063240"/>
            <a:ext cx="10972800" cy="1975104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960472" y="3063240"/>
            <a:ext cx="3144416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 i="1" dirty="0">
                <a:solidFill>
                  <a:srgbClr val="2A6FB0"/>
                </a:solidFill>
                <a:latin typeface="Aptos"/>
              </a:rPr>
              <a:t>LOCAL CAPABILITY LAYER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" y="3703320"/>
            <a:ext cx="658368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 smtClean="0">
                <a:solidFill>
                  <a:srgbClr val="218FA0"/>
                </a:solidFill>
                <a:latin typeface="Aptos"/>
              </a:rPr>
              <a:t>LLM</a:t>
            </a:r>
            <a:endParaRPr b="1" dirty="0">
              <a:solidFill>
                <a:srgbClr val="218FA0"/>
              </a:solidFill>
              <a:latin typeface="Apto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467612" y="3727966"/>
            <a:ext cx="26060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 smtClean="0">
                <a:solidFill>
                  <a:srgbClr val="18222A"/>
                </a:solidFill>
                <a:latin typeface="Aptos"/>
              </a:rPr>
              <a:t>Qwen3:4B </a:t>
            </a:r>
            <a:r>
              <a:rPr sz="1600" b="0" dirty="0">
                <a:solidFill>
                  <a:srgbClr val="18222A"/>
                </a:solidFill>
                <a:latin typeface="Aptos"/>
              </a:rPr>
              <a:t>• Gemma3:4B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74402" y="3693950"/>
            <a:ext cx="658368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218FA0"/>
                </a:solidFill>
                <a:latin typeface="Aptos"/>
              </a:rPr>
              <a:t>VLM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04429" y="3693950"/>
            <a:ext cx="26060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18222A"/>
                </a:solidFill>
                <a:latin typeface="Aptos"/>
              </a:rPr>
              <a:t>Qwen2.5-VL:3B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82128" y="3703320"/>
            <a:ext cx="658368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218FA0"/>
                </a:solidFill>
                <a:latin typeface="Aptos"/>
              </a:rPr>
              <a:t>RAG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63940" y="3695443"/>
            <a:ext cx="260604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600" b="0" dirty="0" smtClean="0">
                <a:solidFill>
                  <a:srgbClr val="18222A"/>
                </a:solidFill>
                <a:latin typeface="Aptos"/>
              </a:rPr>
              <a:t>Nomic_embedtext</a:t>
            </a:r>
            <a:endParaRPr lang="en-US" sz="1600" dirty="0">
              <a:solidFill>
                <a:srgbClr val="18222A"/>
              </a:solidFill>
              <a:latin typeface="Aptos"/>
            </a:endParaRPr>
          </a:p>
          <a:p>
            <a:pPr algn="l"/>
            <a:r>
              <a:rPr lang="en-US" sz="1600" dirty="0" smtClean="0">
                <a:solidFill>
                  <a:srgbClr val="18222A"/>
                </a:solidFill>
                <a:latin typeface="Aptos"/>
              </a:rPr>
              <a:t>OCR</a:t>
            </a:r>
            <a:endParaRPr sz="1600" b="0" dirty="0">
              <a:solidFill>
                <a:srgbClr val="18222A"/>
              </a:solidFill>
              <a:latin typeface="Apto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41248" y="4361688"/>
            <a:ext cx="658368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218FA0"/>
                </a:solidFill>
                <a:latin typeface="Aptos"/>
              </a:rPr>
              <a:t>OCR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41417" y="4320766"/>
            <a:ext cx="260604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solidFill>
                  <a:srgbClr val="18222A"/>
                </a:solidFill>
                <a:latin typeface="Aptos"/>
              </a:rPr>
              <a:t>EasyOCR + </a:t>
            </a:r>
            <a:r>
              <a:rPr b="0" dirty="0" err="1">
                <a:solidFill>
                  <a:srgbClr val="18222A"/>
                </a:solidFill>
                <a:latin typeface="Aptos"/>
              </a:rPr>
              <a:t>PyTorch</a:t>
            </a:r>
            <a:endParaRPr b="0" dirty="0">
              <a:solidFill>
                <a:srgbClr val="18222A"/>
              </a:solidFill>
              <a:latin typeface="Apto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242816" y="4358794"/>
            <a:ext cx="1059584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218FA0"/>
                </a:solidFill>
                <a:latin typeface="Aptos"/>
              </a:rPr>
              <a:t>TOOLS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82993" y="4393025"/>
            <a:ext cx="26060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8222A"/>
                </a:solidFill>
                <a:latin typeface="Aptos"/>
              </a:rPr>
              <a:t>Python • Excel • Files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00554" y="4362248"/>
            <a:ext cx="1094667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600" b="1" dirty="0" smtClean="0">
                <a:solidFill>
                  <a:srgbClr val="218FA0"/>
                </a:solidFill>
                <a:latin typeface="Aptos"/>
              </a:rPr>
              <a:t>OUTPUT</a:t>
            </a:r>
            <a:endParaRPr sz="1600" b="1" dirty="0">
              <a:solidFill>
                <a:srgbClr val="218FA0"/>
              </a:solidFill>
              <a:latin typeface="Apto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786264" y="4299500"/>
            <a:ext cx="260604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18222A"/>
                </a:solidFill>
                <a:latin typeface="Aptos"/>
              </a:rPr>
              <a:t>DOCX • XLSX • PPTX • PDF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94360" y="5687567"/>
            <a:ext cx="11137392" cy="943653"/>
          </a:xfrm>
          <a:prstGeom prst="roundRect">
            <a:avLst/>
          </a:prstGeom>
          <a:solidFill>
            <a:srgbClr val="EDF8F1"/>
          </a:solidFill>
          <a:ln w="12700">
            <a:solidFill>
              <a:srgbClr val="ED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04088" y="5443607"/>
            <a:ext cx="1051560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dirty="0">
                <a:solidFill>
                  <a:srgbClr val="368F58"/>
                </a:solidFill>
                <a:latin typeface="Aptos"/>
              </a:rPr>
              <a:t>Key idea: the LLM does not perform every operation itself — it selects and coordinates the right local capability.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27432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2A6FB0"/>
                </a:solidFill>
                <a:latin typeface="Aptos"/>
              </a:rPr>
              <a:t>MULTIMODAL + KNOWLEDGE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8222A"/>
                </a:solidFill>
                <a:latin typeface="Aptos"/>
              </a:rPr>
              <a:t>One workbench for drawings, documents, images and structured data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2063" y="1394366"/>
            <a:ext cx="10972800" cy="0"/>
          </a:xfrm>
          <a:prstGeom prst="line">
            <a:avLst/>
          </a:prstGeom>
          <a:ln w="15240">
            <a:solidFill>
              <a:srgbClr val="DA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11480" y="1522476"/>
            <a:ext cx="6583680" cy="452628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783079" y="1645920"/>
            <a:ext cx="36576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 dirty="0">
                <a:solidFill>
                  <a:srgbClr val="2A6FB0"/>
                </a:solidFill>
                <a:latin typeface="Aptos"/>
              </a:rPr>
              <a:t>MULTIMODAL INDUSTRIAL UNDERSTANDING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2317606"/>
            <a:ext cx="1261872" cy="566928"/>
          </a:xfrm>
          <a:prstGeom prst="roundRect">
            <a:avLst/>
          </a:prstGeom>
          <a:solidFill>
            <a:srgbClr val="EBF4FB"/>
          </a:solidFill>
          <a:ln w="12700">
            <a:solidFill>
              <a:srgbClr val="2A6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4124" y="2435895"/>
            <a:ext cx="1115568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dirty="0">
                <a:solidFill>
                  <a:srgbClr val="18222A"/>
                </a:solidFill>
                <a:latin typeface="Aptos"/>
              </a:rPr>
              <a:t>P&amp;ID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95043" y="2821460"/>
            <a:ext cx="1316736" cy="475488"/>
          </a:xfrm>
          <a:prstGeom prst="line">
            <a:avLst/>
          </a:prstGeom>
          <a:ln w="12700">
            <a:solidFill>
              <a:srgbClr val="DA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377440" y="2299557"/>
            <a:ext cx="1261872" cy="566928"/>
          </a:xfrm>
          <a:prstGeom prst="roundRect">
            <a:avLst/>
          </a:prstGeom>
          <a:solidFill>
            <a:srgbClr val="EBF7F9"/>
          </a:solidFill>
          <a:ln w="12700">
            <a:solidFill>
              <a:srgbClr val="218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50592" y="2352228"/>
            <a:ext cx="1115568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>
                <a:solidFill>
                  <a:srgbClr val="18222A"/>
                </a:solidFill>
                <a:latin typeface="Aptos"/>
              </a:rPr>
              <a:t>Scanned PDF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2816352" y="2904555"/>
            <a:ext cx="192024" cy="475488"/>
          </a:xfrm>
          <a:prstGeom prst="line">
            <a:avLst/>
          </a:prstGeom>
          <a:ln w="12700">
            <a:solidFill>
              <a:srgbClr val="DA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840479" y="2289265"/>
            <a:ext cx="1261872" cy="566928"/>
          </a:xfrm>
          <a:prstGeom prst="roundRect">
            <a:avLst/>
          </a:prstGeom>
          <a:solidFill>
            <a:srgbClr val="EBF7F9"/>
          </a:solidFill>
          <a:ln w="12700">
            <a:solidFill>
              <a:srgbClr val="218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50209" y="2426287"/>
            <a:ext cx="1115568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18222A"/>
                </a:solidFill>
                <a:latin typeface="Aptos"/>
              </a:rPr>
              <a:t>Image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2882133" y="2811480"/>
            <a:ext cx="1700784" cy="475488"/>
          </a:xfrm>
          <a:prstGeom prst="line">
            <a:avLst/>
          </a:prstGeom>
          <a:ln w="12700">
            <a:solidFill>
              <a:srgbClr val="DA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358384" y="2317606"/>
            <a:ext cx="1261872" cy="566928"/>
          </a:xfrm>
          <a:prstGeom prst="roundRect">
            <a:avLst/>
          </a:prstGeom>
          <a:solidFill>
            <a:srgbClr val="EDF8F1"/>
          </a:solidFill>
          <a:ln w="12700">
            <a:solidFill>
              <a:srgbClr val="368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49825" y="2463515"/>
            <a:ext cx="111556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dirty="0">
                <a:solidFill>
                  <a:srgbClr val="18222A"/>
                </a:solidFill>
                <a:latin typeface="Aptos"/>
              </a:rPr>
              <a:t>XLSX / CSV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2911431" y="2820781"/>
            <a:ext cx="3209543" cy="475488"/>
          </a:xfrm>
          <a:prstGeom prst="line">
            <a:avLst/>
          </a:prstGeom>
          <a:ln w="12700">
            <a:solidFill>
              <a:srgbClr val="DA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833372" y="3336491"/>
            <a:ext cx="3063240" cy="621792"/>
          </a:xfrm>
          <a:prstGeom prst="roundRect">
            <a:avLst/>
          </a:prstGeom>
          <a:solidFill>
            <a:srgbClr val="EBF4FB"/>
          </a:solidFill>
          <a:ln w="12700">
            <a:solidFill>
              <a:srgbClr val="2A6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002536" y="3488666"/>
            <a:ext cx="2724912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2A6FB0"/>
                </a:solidFill>
                <a:latin typeface="Aptos"/>
              </a:rPr>
              <a:t>LOCAL PREPROCESSING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6352" y="4385582"/>
            <a:ext cx="5669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dirty="0">
                <a:solidFill>
                  <a:srgbClr val="5B6974"/>
                </a:solidFill>
                <a:latin typeface="Aptos"/>
              </a:rPr>
              <a:t>OCR  •  parsing  •  VLM  •  structured extraction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364992" y="3877801"/>
            <a:ext cx="0" cy="457200"/>
          </a:xfrm>
          <a:prstGeom prst="line">
            <a:avLst/>
          </a:prstGeom>
          <a:ln w="19050">
            <a:solidFill>
              <a:srgbClr val="2A6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422638" y="4709160"/>
            <a:ext cx="3886200" cy="621792"/>
          </a:xfrm>
          <a:prstGeom prst="roundRect">
            <a:avLst/>
          </a:prstGeom>
          <a:solidFill>
            <a:srgbClr val="EDF8F1"/>
          </a:solidFill>
          <a:ln w="12700">
            <a:solidFill>
              <a:srgbClr val="368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589376" y="4807957"/>
            <a:ext cx="34747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 dirty="0">
                <a:solidFill>
                  <a:srgbClr val="368F58"/>
                </a:solidFill>
                <a:latin typeface="Aptos"/>
              </a:rPr>
              <a:t>EVIDENCE FOR REASONING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" y="5498249"/>
            <a:ext cx="5806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0" dirty="0">
                <a:solidFill>
                  <a:srgbClr val="5B6974"/>
                </a:solidFill>
                <a:latin typeface="Aptos"/>
              </a:rPr>
              <a:t>Equipment tags • relationships • text • measurements • context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26024" y="1522476"/>
            <a:ext cx="4206240" cy="452628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8" name="TextBox 27"/>
          <p:cNvSpPr txBox="1"/>
          <p:nvPr/>
        </p:nvSpPr>
        <p:spPr>
          <a:xfrm>
            <a:off x="8545068" y="1686976"/>
            <a:ext cx="18288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218FA0"/>
                </a:solidFill>
                <a:latin typeface="Aptos"/>
              </a:rPr>
              <a:t>LOCAL RAG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07808" y="2084831"/>
            <a:ext cx="384048" cy="384048"/>
          </a:xfrm>
          <a:prstGeom prst="roundRect">
            <a:avLst/>
          </a:prstGeom>
          <a:solidFill>
            <a:srgbClr val="EBF7F9"/>
          </a:solidFill>
          <a:ln w="12700">
            <a:solidFill>
              <a:srgbClr val="218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607808" y="2194560"/>
            <a:ext cx="384048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218FA0"/>
                </a:solidFill>
                <a:latin typeface="Aptos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2131113"/>
            <a:ext cx="9144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222A"/>
                </a:solidFill>
                <a:latin typeface="Aptos"/>
              </a:rPr>
              <a:t>Parse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2103120"/>
            <a:ext cx="224028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5B6974"/>
                </a:solidFill>
                <a:latin typeface="Aptos"/>
              </a:rPr>
              <a:t>SOPs / manuals / reports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07808" y="2743200"/>
            <a:ext cx="384048" cy="384048"/>
          </a:xfrm>
          <a:prstGeom prst="roundRect">
            <a:avLst/>
          </a:prstGeom>
          <a:solidFill>
            <a:srgbClr val="EBF7F9"/>
          </a:solidFill>
          <a:ln w="12700">
            <a:solidFill>
              <a:srgbClr val="218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607808" y="2852928"/>
            <a:ext cx="384048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218FA0"/>
                </a:solidFill>
                <a:latin typeface="Aptos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2761488"/>
            <a:ext cx="9144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222A"/>
                </a:solidFill>
                <a:latin typeface="Aptos"/>
              </a:rPr>
              <a:t>Embed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2761488"/>
            <a:ext cx="22402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B6974"/>
                </a:solidFill>
                <a:latin typeface="Aptos"/>
              </a:rPr>
              <a:t>nomic-embed-text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07808" y="3401568"/>
            <a:ext cx="384048" cy="384048"/>
          </a:xfrm>
          <a:prstGeom prst="roundRect">
            <a:avLst/>
          </a:prstGeom>
          <a:solidFill>
            <a:srgbClr val="EBF7F9"/>
          </a:solidFill>
          <a:ln w="12700">
            <a:solidFill>
              <a:srgbClr val="218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607808" y="3511296"/>
            <a:ext cx="384048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218FA0"/>
                </a:solidFill>
                <a:latin typeface="Aptos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3419856"/>
            <a:ext cx="9144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222A"/>
                </a:solidFill>
                <a:latin typeface="Aptos"/>
              </a:rPr>
              <a:t>Retrieve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0" y="3419856"/>
            <a:ext cx="22402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B6974"/>
                </a:solidFill>
                <a:latin typeface="Aptos"/>
              </a:rPr>
              <a:t>Qdrant local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607808" y="4059935"/>
            <a:ext cx="384048" cy="384048"/>
          </a:xfrm>
          <a:prstGeom prst="roundRect">
            <a:avLst/>
          </a:prstGeom>
          <a:solidFill>
            <a:srgbClr val="EBF7F9"/>
          </a:solidFill>
          <a:ln w="12700">
            <a:solidFill>
              <a:srgbClr val="218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607808" y="4169663"/>
            <a:ext cx="384048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218FA0"/>
                </a:solidFill>
                <a:latin typeface="Aptos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8160" y="4078223"/>
            <a:ext cx="9144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222A"/>
                </a:solidFill>
                <a:latin typeface="Aptos"/>
              </a:rPr>
              <a:t>Ground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0" y="4078223"/>
            <a:ext cx="22402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B6974"/>
                </a:solidFill>
                <a:latin typeface="Aptos"/>
              </a:rPr>
              <a:t>Relevant evidence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607808" y="4718303"/>
            <a:ext cx="384048" cy="384048"/>
          </a:xfrm>
          <a:prstGeom prst="roundRect">
            <a:avLst/>
          </a:prstGeom>
          <a:solidFill>
            <a:srgbClr val="EBF7F9"/>
          </a:solidFill>
          <a:ln w="12700">
            <a:solidFill>
              <a:srgbClr val="218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607808" y="4828031"/>
            <a:ext cx="384048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218FA0"/>
                </a:solidFill>
                <a:latin typeface="Aptos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8160" y="4736591"/>
            <a:ext cx="9144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222A"/>
                </a:solidFill>
                <a:latin typeface="Aptos"/>
              </a:rPr>
              <a:t>Cite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20" y="4736591"/>
            <a:ext cx="22402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B6974"/>
                </a:solidFill>
                <a:latin typeface="Aptos"/>
              </a:rPr>
              <a:t>Traceable answer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607808" y="5285232"/>
            <a:ext cx="3703320" cy="429768"/>
          </a:xfrm>
          <a:prstGeom prst="roundRect">
            <a:avLst/>
          </a:prstGeom>
          <a:solidFill>
            <a:srgbClr val="FCF5E5"/>
          </a:solidFill>
          <a:ln w="12700">
            <a:solidFill>
              <a:srgbClr val="FCF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722108" y="5356398"/>
            <a:ext cx="34747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dirty="0">
                <a:solidFill>
                  <a:srgbClr val="BE7E1A"/>
                </a:solidFill>
                <a:latin typeface="Aptos"/>
              </a:rPr>
              <a:t>Insufficient evidence → no invented fact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A6FB0"/>
                </a:solidFill>
                <a:latin typeface="Aptos"/>
              </a:rPr>
              <a:t>PROTOTYPE /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8222A"/>
                </a:solidFill>
                <a:latin typeface="Aptos"/>
              </a:rPr>
              <a:t>Hero use case: investigate pump P-101 across four evidence sources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329053"/>
            <a:ext cx="10972800" cy="0"/>
          </a:xfrm>
          <a:prstGeom prst="line">
            <a:avLst/>
          </a:prstGeom>
          <a:ln w="15240">
            <a:solidFill>
              <a:srgbClr val="DA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94360" y="1417320"/>
            <a:ext cx="2450592" cy="822960"/>
          </a:xfrm>
          <a:prstGeom prst="roundRect">
            <a:avLst/>
          </a:prstGeom>
          <a:solidFill>
            <a:srgbClr val="EBF4FB"/>
          </a:solidFill>
          <a:ln w="12700">
            <a:solidFill>
              <a:srgbClr val="2A6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1618488"/>
            <a:ext cx="223113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8222A"/>
                </a:solidFill>
                <a:latin typeface="Aptos"/>
              </a:rPr>
              <a:t>P&amp;ID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901952"/>
            <a:ext cx="22311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30" b="0">
                <a:solidFill>
                  <a:srgbClr val="5B6974"/>
                </a:solidFill>
                <a:latin typeface="Aptos"/>
              </a:rPr>
              <a:t>VLM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417320"/>
            <a:ext cx="2450592" cy="822960"/>
          </a:xfrm>
          <a:prstGeom prst="roundRect">
            <a:avLst/>
          </a:prstGeom>
          <a:solidFill>
            <a:srgbClr val="EBF7F9"/>
          </a:solidFill>
          <a:ln w="12700">
            <a:solidFill>
              <a:srgbClr val="218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47288" y="1618488"/>
            <a:ext cx="223113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8222A"/>
                </a:solidFill>
                <a:latin typeface="Aptos"/>
              </a:rPr>
              <a:t>Inspection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7288" y="1901952"/>
            <a:ext cx="22311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30" b="0">
                <a:solidFill>
                  <a:srgbClr val="5B6974"/>
                </a:solidFill>
                <a:latin typeface="Aptos"/>
              </a:rPr>
              <a:t>PDF / OCR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417320"/>
            <a:ext cx="2450592" cy="822960"/>
          </a:xfrm>
          <a:prstGeom prst="roundRect">
            <a:avLst/>
          </a:prstGeom>
          <a:solidFill>
            <a:srgbClr val="EDF8F1"/>
          </a:solidFill>
          <a:ln w="12700">
            <a:solidFill>
              <a:srgbClr val="368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90488" y="1618488"/>
            <a:ext cx="223113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8222A"/>
                </a:solidFill>
                <a:latin typeface="Aptos"/>
              </a:rPr>
              <a:t>Vibration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1901952"/>
            <a:ext cx="22311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30" b="0">
                <a:solidFill>
                  <a:srgbClr val="5B6974"/>
                </a:solidFill>
                <a:latin typeface="Aptos"/>
              </a:rPr>
              <a:t>Excel analysis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417320"/>
            <a:ext cx="2450592" cy="822960"/>
          </a:xfrm>
          <a:prstGeom prst="roundRect">
            <a:avLst/>
          </a:prstGeom>
          <a:solidFill>
            <a:srgbClr val="FCF5E5"/>
          </a:solidFill>
          <a:ln w="12700">
            <a:solidFill>
              <a:srgbClr val="BE7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33688" y="1618488"/>
            <a:ext cx="223113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8222A"/>
                </a:solidFill>
                <a:latin typeface="Aptos"/>
              </a:rPr>
              <a:t>Maintenance SOP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33688" y="1901952"/>
            <a:ext cx="22311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30" b="0">
                <a:solidFill>
                  <a:srgbClr val="5B6974"/>
                </a:solidFill>
                <a:latin typeface="Aptos"/>
              </a:rPr>
              <a:t>RAG retrieval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2331720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A6FB0"/>
                </a:solidFill>
                <a:latin typeface="Aptos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17320" y="2724912"/>
            <a:ext cx="9052560" cy="640080"/>
          </a:xfrm>
          <a:prstGeom prst="roundRect">
            <a:avLst/>
          </a:prstGeom>
          <a:solidFill>
            <a:srgbClr val="EBF4FB"/>
          </a:solidFill>
          <a:ln w="12700">
            <a:solidFill>
              <a:srgbClr val="2A6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27632" y="2935224"/>
            <a:ext cx="8641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2A6FB0"/>
                </a:solidFill>
                <a:latin typeface="Aptos"/>
              </a:rPr>
              <a:t>AGENTIC ANALYSIS  •  PLAN  →  ROUTE  →  EXECUTE  →  SYNTHESIZE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43600" y="3364992"/>
            <a:ext cx="0" cy="338328"/>
          </a:xfrm>
          <a:prstGeom prst="line">
            <a:avLst/>
          </a:prstGeom>
          <a:ln w="19050">
            <a:solidFill>
              <a:srgbClr val="2A6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94360" y="3767328"/>
            <a:ext cx="342900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68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8" y="3995928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368F58"/>
                </a:solidFill>
                <a:latin typeface="Aptos"/>
              </a:rPr>
              <a:t>FINDINGS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4315968"/>
            <a:ext cx="2788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8222A"/>
                </a:solidFill>
                <a:latin typeface="Aptos"/>
              </a:rPr>
              <a:t>Abnormal conditions + supporting evidence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24528" y="3767328"/>
            <a:ext cx="342900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6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80560" y="3995928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A6FB0"/>
                </a:solidFill>
                <a:latin typeface="Aptos"/>
              </a:rPr>
              <a:t>VERIFICATION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315968"/>
            <a:ext cx="2788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8222A"/>
                </a:solidFill>
                <a:latin typeface="Aptos"/>
              </a:rPr>
              <a:t>Grounding check + citations + uncertainty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54696" y="3767328"/>
            <a:ext cx="342900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7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10727" y="3995928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BE7E1A"/>
                </a:solidFill>
                <a:latin typeface="Aptos"/>
              </a:rPr>
              <a:t>RISK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10727" y="4315968"/>
            <a:ext cx="2788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8222A"/>
                </a:solidFill>
                <a:latin typeface="Aptos"/>
              </a:rPr>
              <a:t>Risk assessment + human review when needed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313432" y="4937760"/>
            <a:ext cx="0" cy="292608"/>
          </a:xfrm>
          <a:prstGeom prst="line">
            <a:avLst/>
          </a:prstGeom>
          <a:ln w="12700">
            <a:solidFill>
              <a:srgbClr val="DA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943600" y="4937760"/>
            <a:ext cx="0" cy="292608"/>
          </a:xfrm>
          <a:prstGeom prst="line">
            <a:avLst/>
          </a:prstGeom>
          <a:ln w="12700">
            <a:solidFill>
              <a:srgbClr val="DA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564624" y="4937760"/>
            <a:ext cx="0" cy="292608"/>
          </a:xfrm>
          <a:prstGeom prst="line">
            <a:avLst/>
          </a:prstGeom>
          <a:ln w="12700">
            <a:solidFill>
              <a:srgbClr val="DA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2743200" y="5230368"/>
            <a:ext cx="6400800" cy="603504"/>
          </a:xfrm>
          <a:prstGeom prst="roundRect">
            <a:avLst/>
          </a:prstGeom>
          <a:solidFill>
            <a:srgbClr val="EDF8F1"/>
          </a:solidFill>
          <a:ln w="12700">
            <a:solidFill>
              <a:srgbClr val="368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971800" y="5431536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68F58"/>
                </a:solidFill>
                <a:latin typeface="Aptos"/>
              </a:rPr>
              <a:t>Approval_Note.docx  •  generated locally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6053328"/>
            <a:ext cx="2450592" cy="347472"/>
          </a:xfrm>
          <a:prstGeom prst="roundRect">
            <a:avLst/>
          </a:prstGeom>
          <a:solidFill>
            <a:srgbClr val="EDF8F1"/>
          </a:solidFill>
          <a:ln w="12700">
            <a:solidFill>
              <a:srgbClr val="368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85800" y="6144768"/>
            <a:ext cx="226771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368F58"/>
                </a:solidFill>
                <a:latin typeface="Aptos"/>
              </a:rPr>
              <a:t>Real API: YES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37560" y="6053328"/>
            <a:ext cx="2450592" cy="347472"/>
          </a:xfrm>
          <a:prstGeom prst="roundRect">
            <a:avLst/>
          </a:prstGeom>
          <a:solidFill>
            <a:srgbClr val="EDF8F1"/>
          </a:solidFill>
          <a:ln w="12700">
            <a:solidFill>
              <a:srgbClr val="368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429000" y="6144768"/>
            <a:ext cx="226771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368F58"/>
                </a:solidFill>
                <a:latin typeface="Aptos"/>
              </a:rPr>
              <a:t>Real RAG: YES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80760" y="6053328"/>
            <a:ext cx="2450592" cy="347472"/>
          </a:xfrm>
          <a:prstGeom prst="roundRect">
            <a:avLst/>
          </a:prstGeom>
          <a:solidFill>
            <a:srgbClr val="EDF8F1"/>
          </a:solidFill>
          <a:ln w="12700">
            <a:solidFill>
              <a:srgbClr val="368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172200" y="6144768"/>
            <a:ext cx="226771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368F58"/>
                </a:solidFill>
                <a:latin typeface="Aptos"/>
              </a:rPr>
              <a:t>Real VLM/OCR: YES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23960" y="6053328"/>
            <a:ext cx="2450592" cy="347472"/>
          </a:xfrm>
          <a:prstGeom prst="roundRect">
            <a:avLst/>
          </a:prstGeom>
          <a:solidFill>
            <a:srgbClr val="EDF8F1"/>
          </a:solidFill>
          <a:ln w="12700">
            <a:solidFill>
              <a:srgbClr val="368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915400" y="6144768"/>
            <a:ext cx="226771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368F58"/>
                </a:solidFill>
                <a:latin typeface="Aptos"/>
              </a:rPr>
              <a:t>Hero E2E: PASS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A6FB0"/>
                </a:solidFill>
                <a:latin typeface="Aptos"/>
              </a:rPr>
              <a:t>FEASIBILITY /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8222A"/>
                </a:solidFill>
                <a:latin typeface="Aptos"/>
              </a:rPr>
              <a:t>Built as a practical prototype—with a clear path to industrial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383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B6974"/>
                </a:solidFill>
                <a:latin typeface="Aptos"/>
              </a:rPr>
              <a:t>06 / 06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170432"/>
            <a:ext cx="10972800" cy="0"/>
          </a:xfrm>
          <a:prstGeom prst="line">
            <a:avLst/>
          </a:prstGeom>
          <a:ln w="15240">
            <a:solidFill>
              <a:srgbClr val="DA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94360" y="1389888"/>
            <a:ext cx="3474720" cy="2057400"/>
          </a:xfrm>
          <a:prstGeom prst="roundRect">
            <a:avLst/>
          </a:prstGeom>
          <a:solidFill>
            <a:srgbClr val="EDF8F1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536192"/>
            <a:ext cx="307238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368F58"/>
                </a:solidFill>
                <a:latin typeface="Aptos"/>
              </a:rPr>
              <a:t>FEASIBILITY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911095"/>
            <a:ext cx="309067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8222A"/>
                </a:solidFill>
                <a:latin typeface="Aptos"/>
              </a:rPr>
              <a:t>• Real browser ↔ FastAPI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359152"/>
            <a:ext cx="309067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8222A"/>
                </a:solidFill>
                <a:latin typeface="Aptos"/>
              </a:rPr>
              <a:t>• Real file upload, RAG, VLM, OCR and XLSX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807208"/>
            <a:ext cx="309067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8222A"/>
                </a:solidFill>
                <a:latin typeface="Aptos"/>
              </a:rPr>
              <a:t>• Real verification, risk state and DOCX generation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24528" y="1389888"/>
            <a:ext cx="3474720" cy="2057400"/>
          </a:xfrm>
          <a:prstGeom prst="roundRect">
            <a:avLst/>
          </a:prstGeom>
          <a:solidFill>
            <a:srgbClr val="FCF5E5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25696" y="1536192"/>
            <a:ext cx="307238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BE7E1A"/>
                </a:solidFill>
                <a:latin typeface="Aptos"/>
              </a:rPr>
              <a:t>CURRENT CONSIDERATIONS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5696" y="1911095"/>
            <a:ext cx="309067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8222A"/>
                </a:solidFill>
                <a:latin typeface="Aptos"/>
              </a:rPr>
              <a:t>• Local CPU/GPU inference can be slow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2359152"/>
            <a:ext cx="309067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8222A"/>
                </a:solidFill>
                <a:latin typeface="Aptos"/>
              </a:rPr>
              <a:t>• Docker sandbox preferred for final deployment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2807208"/>
            <a:ext cx="309067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8222A"/>
                </a:solidFill>
                <a:latin typeface="Aptos"/>
              </a:rPr>
              <a:t>• P&amp;ID accuracy depends on image quality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54696" y="1389888"/>
            <a:ext cx="3474720" cy="2057400"/>
          </a:xfrm>
          <a:prstGeom prst="roundRect">
            <a:avLst/>
          </a:prstGeom>
          <a:solidFill>
            <a:srgbClr val="EBF4FB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55864" y="1536192"/>
            <a:ext cx="307238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2A6FB0"/>
                </a:solidFill>
                <a:latin typeface="Aptos"/>
              </a:rPr>
              <a:t>INDUSTRIAL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1911095"/>
            <a:ext cx="309067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8222A"/>
                </a:solidFill>
                <a:latin typeface="Aptos"/>
              </a:rPr>
              <a:t>• Maintenance &amp; inspections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2359152"/>
            <a:ext cx="309067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8222A"/>
                </a:solidFill>
                <a:latin typeface="Aptos"/>
              </a:rPr>
              <a:t>• Engineering knowledge 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55864" y="2807208"/>
            <a:ext cx="309067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8222A"/>
                </a:solidFill>
                <a:latin typeface="Aptos"/>
              </a:rPr>
              <a:t>• Process operations &amp; enterprise knowledge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703320"/>
            <a:ext cx="64008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" y="3931920"/>
            <a:ext cx="2377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2A6FB0"/>
                </a:solidFill>
                <a:latin typeface="Aptos"/>
              </a:rPr>
              <a:t>EVALUATION FRAMEWORK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4370832"/>
            <a:ext cx="5806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8222A"/>
                </a:solidFill>
                <a:latin typeface="Aptos"/>
              </a:rPr>
              <a:t>Retrieval accuracy • evidence relevance • citation correctness • grounded-answer rate • hallucination rejection • tool selection/execution • OCR/P&amp;ID accuracy • verification • risk classification • end-to-end task success • P95 latency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5468112"/>
            <a:ext cx="5897880" cy="347472"/>
          </a:xfrm>
          <a:prstGeom prst="roundRect">
            <a:avLst/>
          </a:prstGeom>
          <a:solidFill>
            <a:srgbClr val="FCF5E5"/>
          </a:solidFill>
          <a:ln w="12700">
            <a:solidFill>
              <a:srgbClr val="FCF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" y="5559552"/>
            <a:ext cx="56692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80" b="1">
                <a:solidFill>
                  <a:srgbClr val="BE7E1A"/>
                </a:solidFill>
                <a:latin typeface="Aptos"/>
              </a:rPr>
              <a:t>Status: evaluation framework prepared / evaluation in progress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23760" y="3703320"/>
            <a:ext cx="43434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70648" y="393192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218FA0"/>
                </a:solidFill>
                <a:latin typeface="Aptos"/>
              </a:rPr>
              <a:t>RESEARCH / EVALUATION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648" y="4343400"/>
            <a:ext cx="374903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>
                <a:solidFill>
                  <a:srgbClr val="18222A"/>
                </a:solidFill>
                <a:latin typeface="Aptos"/>
              </a:rPr>
              <a:t>• Centrifugal Pump Multi-Fault Vibration Dataset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0648" y="4654296"/>
            <a:ext cx="374903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>
                <a:solidFill>
                  <a:srgbClr val="18222A"/>
                </a:solidFill>
                <a:latin typeface="Aptos"/>
              </a:rPr>
              <a:t>• Tennessee Eastman Process dataset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70648" y="4965192"/>
            <a:ext cx="374903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>
                <a:solidFill>
                  <a:srgbClr val="18222A"/>
                </a:solidFill>
                <a:latin typeface="Aptos"/>
              </a:rPr>
              <a:t>• PIDQA — P&amp;ID visual question answering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0648" y="5276088"/>
            <a:ext cx="374903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>
                <a:solidFill>
                  <a:srgbClr val="18222A"/>
                </a:solidFill>
                <a:latin typeface="Aptos"/>
              </a:rPr>
              <a:t>• PID2Graph — relationship reasoning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0648" y="5586983"/>
            <a:ext cx="374903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>
                <a:solidFill>
                  <a:srgbClr val="18222A"/>
                </a:solidFill>
                <a:latin typeface="Aptos"/>
              </a:rPr>
              <a:t>• P&amp;ID dataset — visual evaluation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0648" y="5733288"/>
            <a:ext cx="374903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1">
                <a:solidFill>
                  <a:srgbClr val="5B6974"/>
                </a:solidFill>
                <a:latin typeface="Aptos"/>
              </a:rPr>
              <a:t>Evaluation datasets, not LLM fine-tuning data.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19088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19" b="0">
                <a:solidFill>
                  <a:srgbClr val="5B6974"/>
                </a:solidFill>
                <a:latin typeface="Aptos"/>
              </a:rPr>
              <a:t>SOVARA  •  Sovereign Industrial Intelligence  •  Your Intelligence. Your Infrastructure. Your Control.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7608</TotalTime>
  <Words>595</Words>
  <Application>Microsoft Office PowerPoint</Application>
  <PresentationFormat>Widescreen</PresentationFormat>
  <Paragraphs>140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Aptos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SOVARA — SIH 2026 Light Theme</dc:title>
  <dc:subject>Sovereign On-Premise Agentic AI Workbench</dc:subject>
  <dc:creator>Crowdfunder</dc:creator>
  <cp:keywords/>
  <dc:description/>
  <cp:lastModifiedBy>HARKANWAL</cp:lastModifiedBy>
  <cp:revision>155</cp:revision>
  <dcterms:created xsi:type="dcterms:W3CDTF">2013-12-12T18:46:50Z</dcterms:created>
  <dcterms:modified xsi:type="dcterms:W3CDTF">2026-09-11T09:17:10Z</dcterms:modified>
  <cp:category/>
</cp:coreProperties>
</file>