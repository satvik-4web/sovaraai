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99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6270" y="1744092"/>
            <a:ext cx="573332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ptos" panose="020B0004020202020204" pitchFamily="34" charset="0"/>
              </a:rPr>
              <a:t>Problem Statement ID:</a:t>
            </a:r>
            <a:r>
              <a:rPr lang="en-US" sz="1600" dirty="0">
                <a:latin typeface="Aptos" panose="020B0004020202020204" pitchFamily="34" charset="0"/>
              </a:rPr>
              <a:t> SIH26117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b="1" dirty="0">
                <a:latin typeface="Aptos" panose="020B0004020202020204" pitchFamily="34" charset="0"/>
              </a:rPr>
              <a:t>Problem Statement Title:</a:t>
            </a:r>
            <a:r>
              <a:rPr lang="en-US" sz="1600" dirty="0">
                <a:latin typeface="Aptos" panose="020B0004020202020204" pitchFamily="34" charset="0"/>
              </a:rPr>
              <a:t> Sovereign On-Premise Agentic AI Workbench using Open-Weight Multimodal LLMs for Confidential Industrial Work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b="1" dirty="0">
                <a:latin typeface="Aptos" panose="020B0004020202020204" pitchFamily="34" charset="0"/>
              </a:rPr>
              <a:t>Theme:</a:t>
            </a:r>
            <a:r>
              <a:rPr lang="en-US" sz="1600" dirty="0">
                <a:latin typeface="Aptos" panose="020B0004020202020204" pitchFamily="34" charset="0"/>
              </a:rPr>
              <a:t> Smart Automation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b="1" dirty="0">
                <a:latin typeface="Aptos" panose="020B0004020202020204" pitchFamily="34" charset="0"/>
              </a:rPr>
              <a:t>PS Category:</a:t>
            </a:r>
            <a:r>
              <a:rPr lang="en-US" sz="1600" dirty="0">
                <a:latin typeface="Aptos" panose="020B0004020202020204" pitchFamily="34" charset="0"/>
              </a:rPr>
              <a:t> Software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b="1" dirty="0">
                <a:latin typeface="Aptos" panose="020B0004020202020204" pitchFamily="34" charset="0"/>
              </a:rPr>
              <a:t>Team ID:</a:t>
            </a:r>
            <a:r>
              <a:rPr lang="en-US" sz="1600" dirty="0">
                <a:latin typeface="Aptos" panose="020B0004020202020204" pitchFamily="34" charset="0"/>
              </a:rPr>
              <a:t> [To Be Filled]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r>
              <a:rPr lang="en-US" sz="1600" b="1" dirty="0">
                <a:latin typeface="Aptos" panose="020B0004020202020204" pitchFamily="34" charset="0"/>
              </a:rPr>
              <a:t>Team Name:</a:t>
            </a:r>
            <a:r>
              <a:rPr lang="en-US" sz="1600" dirty="0">
                <a:latin typeface="Aptos" panose="020B0004020202020204" pitchFamily="34" charset="0"/>
              </a:rPr>
              <a:t> Sovereign Forge</a:t>
            </a:r>
            <a:endParaRPr lang="en-IN" sz="1600" b="1" dirty="0">
              <a:solidFill>
                <a:schemeClr val="accent6">
                  <a:lumMod val="7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1304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600" b="1">
                <a:solidFill>
                  <a:srgbClr val="2A6FB0"/>
                </a:solidFill>
                <a:latin typeface="Aptos"/>
              </a:rPr>
              <a:t>IDEA TITLE</a:t>
            </a:r>
            <a:endParaRPr sz="1600" b="1" dirty="0">
              <a:solidFill>
                <a:srgbClr val="2A6FB0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457199"/>
            <a:ext cx="102412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500" b="1">
                <a:solidFill>
                  <a:srgbClr val="18222A"/>
                </a:solidFill>
                <a:latin typeface="Aptos"/>
              </a:rPr>
              <a:t>SOVARA: Sovereign On-Premise Agentic AI Workbench</a:t>
            </a:r>
            <a:endParaRPr sz="2500" b="1" dirty="0">
              <a:solidFill>
                <a:srgbClr val="18222A"/>
              </a:solidFill>
              <a:latin typeface="Apto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48640" y="1342675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216" y="-26492"/>
            <a:ext cx="1619719" cy="76480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E07227-2F6D-9F11-5C4B-073F3CCAC4AE}"/>
              </a:ext>
            </a:extLst>
          </p:cNvPr>
          <p:cNvSpPr/>
          <p:nvPr/>
        </p:nvSpPr>
        <p:spPr>
          <a:xfrm>
            <a:off x="635000" y="1651000"/>
            <a:ext cx="5207000" cy="2286000"/>
          </a:xfrm>
          <a:prstGeom prst="roundRect">
            <a:avLst/>
          </a:prstGeom>
          <a:gradFill flip="none" rotWithShape="1">
            <a:gsLst>
              <a:gs pos="0">
                <a:srgbClr val="F0F0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rgbClr val="FF0000"/>
                </a:solidFill>
                <a:latin typeface="Aptos" panose="020B0004020202020204" pitchFamily="34" charset="0"/>
              </a:rPr>
              <a:t>PROBLEM:</a:t>
            </a:r>
          </a:p>
          <a:p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Industrial organizations handle confidential:</a:t>
            </a:r>
          </a:p>
          <a:p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SOPs, manuals &amp; inspection reports</a:t>
            </a:r>
          </a:p>
          <a:p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Engineering drawings &amp; P&amp;IDs</a:t>
            </a:r>
          </a:p>
          <a:p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Spreadsheets and operational data</a:t>
            </a:r>
          </a:p>
          <a:p>
            <a:endParaRPr lang="en-US" sz="14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External AI services can create confidentiality, compliance and control concerns. Industrial work also requires evidence, tool execution, and controlled human decisions.</a:t>
            </a:r>
            <a:endParaRPr lang="en-IN" sz="14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E0A4D13-3BF9-7348-FDD6-AA741350A3E4}"/>
              </a:ext>
            </a:extLst>
          </p:cNvPr>
          <p:cNvSpPr/>
          <p:nvPr/>
        </p:nvSpPr>
        <p:spPr>
          <a:xfrm>
            <a:off x="635000" y="4127500"/>
            <a:ext cx="5207000" cy="2476500"/>
          </a:xfrm>
          <a:prstGeom prst="roundRect">
            <a:avLst/>
          </a:prstGeom>
          <a:gradFill flip="none" rotWithShape="1">
            <a:gsLst>
              <a:gs pos="0">
                <a:srgbClr val="F0F0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rgbClr val="008000"/>
                </a:solidFill>
                <a:latin typeface="Aptos" panose="020B0004020202020204" pitchFamily="34" charset="0"/>
              </a:rPr>
              <a:t>INNOVATION / UNIQUENESS:</a:t>
            </a:r>
          </a:p>
          <a:p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Designed for confidential industrial knowledge work</a:t>
            </a:r>
          </a:p>
          <a:p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Multimodal reasoning across P&amp;IDs, PDFs, and spreadsheets</a:t>
            </a:r>
          </a:p>
          <a:p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Automatic capability routing before expensive planning</a:t>
            </a:r>
          </a:p>
          <a:p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Evidence-grounded answers with citations</a:t>
            </a:r>
          </a:p>
          <a:p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Verification, risk assessment &amp; human-review layer</a:t>
            </a:r>
          </a:p>
          <a:p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Designed for air-gapped deployment</a:t>
            </a:r>
            <a:endParaRPr lang="en-IN" sz="14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E0E8DFB-E6C7-39A7-37CB-D6EE2E3F7A41}"/>
              </a:ext>
            </a:extLst>
          </p:cNvPr>
          <p:cNvSpPr/>
          <p:nvPr/>
        </p:nvSpPr>
        <p:spPr>
          <a:xfrm>
            <a:off x="6096000" y="1651000"/>
            <a:ext cx="5207000" cy="4762500"/>
          </a:xfrm>
          <a:prstGeom prst="roundRect">
            <a:avLst/>
          </a:prstGeom>
          <a:gradFill flip="none" rotWithShape="1">
            <a:gsLst>
              <a:gs pos="0">
                <a:srgbClr val="F0F0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>
                <a:solidFill>
                  <a:srgbClr val="0000FF"/>
                </a:solidFill>
                <a:latin typeface="Aptos" panose="020B0004020202020204" pitchFamily="34" charset="0"/>
              </a:rPr>
              <a:t>PROPOSED SOLUTION:</a:t>
            </a:r>
          </a:p>
          <a:p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SOVARA is a sovereign, on-premise agentic AI workbench that runs open-weight AI models and supporting tools on enterprise infrastructure.</a:t>
            </a:r>
          </a:p>
          <a:p>
            <a:endParaRPr lang="en-IN" sz="14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Core capabilities:</a:t>
            </a:r>
          </a:p>
          <a:p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Local open-weight LLM/VLM</a:t>
            </a:r>
          </a:p>
          <a:p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Local OCR</a:t>
            </a:r>
          </a:p>
          <a:p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Enterprise RAG</a:t>
            </a:r>
          </a:p>
          <a:p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Agentic planning and execution</a:t>
            </a:r>
          </a:p>
          <a:p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Python / Excel / file tools</a:t>
            </a:r>
          </a:p>
          <a:p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Verification and risk assessment</a:t>
            </a:r>
          </a:p>
          <a:p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Human review for high-risk outputs</a:t>
            </a:r>
          </a:p>
          <a:p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Local document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600" b="1">
                <a:solidFill>
                  <a:srgbClr val="2A6FB0"/>
                </a:solidFill>
                <a:latin typeface="Aptos"/>
              </a:rPr>
              <a:t>TECHNICAL APPROACH</a:t>
            </a:r>
            <a:endParaRPr sz="1600" b="1" dirty="0">
              <a:solidFill>
                <a:srgbClr val="2A6FB0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500" b="1">
                <a:solidFill>
                  <a:srgbClr val="18222A"/>
                </a:solidFill>
                <a:latin typeface="Aptos"/>
              </a:rPr>
              <a:t>From a natural-language request to a controlled industrial action</a:t>
            </a:r>
            <a:endParaRPr sz="2500" b="1">
              <a:solidFill>
                <a:srgbClr val="18222A"/>
              </a:solidFill>
              <a:latin typeface="Apto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7AAF15-3125-84AB-5B98-13CDEB43BF59}"/>
              </a:ext>
            </a:extLst>
          </p:cNvPr>
          <p:cNvSpPr/>
          <p:nvPr/>
        </p:nvSpPr>
        <p:spPr>
          <a:xfrm>
            <a:off x="508000" y="1651000"/>
            <a:ext cx="2032000" cy="508000"/>
          </a:xfrm>
          <a:prstGeom prst="roundRect">
            <a:avLst/>
          </a:prstGeom>
          <a:gradFill flip="none" rotWithShape="1">
            <a:gsLst>
              <a:gs pos="0">
                <a:srgbClr val="FFEEDD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AA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1. USER REQUEST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E6A4018-678C-22CF-A3FE-CDDDA0954F45}"/>
              </a:ext>
            </a:extLst>
          </p:cNvPr>
          <p:cNvCxnSpPr/>
          <p:nvPr/>
        </p:nvCxnSpPr>
        <p:spPr>
          <a:xfrm>
            <a:off x="2540000" y="1905000"/>
            <a:ext cx="254000" cy="0"/>
          </a:xfrm>
          <a:prstGeom prst="line">
            <a:avLst/>
          </a:prstGeom>
          <a:ln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AD22848-6267-D52B-452F-2DC60291161E}"/>
              </a:ext>
            </a:extLst>
          </p:cNvPr>
          <p:cNvSpPr/>
          <p:nvPr/>
        </p:nvSpPr>
        <p:spPr>
          <a:xfrm>
            <a:off x="2794000" y="1651000"/>
            <a:ext cx="2032000" cy="508000"/>
          </a:xfrm>
          <a:prstGeom prst="roundRect">
            <a:avLst/>
          </a:prstGeom>
          <a:gradFill flip="none" rotWithShape="1">
            <a:gsLst>
              <a:gs pos="0">
                <a:srgbClr val="FFEEDD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AA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2. UNDERSTAND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2969A2-E0A7-B170-8A48-DEC08DFFC7FA}"/>
              </a:ext>
            </a:extLst>
          </p:cNvPr>
          <p:cNvCxnSpPr/>
          <p:nvPr/>
        </p:nvCxnSpPr>
        <p:spPr>
          <a:xfrm>
            <a:off x="4826000" y="1905000"/>
            <a:ext cx="254000" cy="0"/>
          </a:xfrm>
          <a:prstGeom prst="line">
            <a:avLst/>
          </a:prstGeom>
          <a:ln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BD7A630-1B00-9731-53F3-A62567C5574B}"/>
              </a:ext>
            </a:extLst>
          </p:cNvPr>
          <p:cNvSpPr/>
          <p:nvPr/>
        </p:nvSpPr>
        <p:spPr>
          <a:xfrm>
            <a:off x="5080000" y="1651000"/>
            <a:ext cx="2032000" cy="508000"/>
          </a:xfrm>
          <a:prstGeom prst="roundRect">
            <a:avLst/>
          </a:prstGeom>
          <a:gradFill flip="none" rotWithShape="1">
            <a:gsLst>
              <a:gs pos="0">
                <a:srgbClr val="FFEEDD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AA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3. CAPABILITY ROUTING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AEBA45C-3412-DBE7-E043-CFF2EB3646A1}"/>
              </a:ext>
            </a:extLst>
          </p:cNvPr>
          <p:cNvCxnSpPr/>
          <p:nvPr/>
        </p:nvCxnSpPr>
        <p:spPr>
          <a:xfrm>
            <a:off x="6096000" y="2159000"/>
            <a:ext cx="0" cy="317500"/>
          </a:xfrm>
          <a:prstGeom prst="line">
            <a:avLst/>
          </a:prstGeom>
          <a:ln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95476EEC-BEC3-0F7C-71E3-4F773109AFFC}"/>
              </a:ext>
            </a:extLst>
          </p:cNvPr>
          <p:cNvSpPr/>
          <p:nvPr/>
        </p:nvSpPr>
        <p:spPr>
          <a:xfrm>
            <a:off x="508000" y="2476500"/>
            <a:ext cx="2032000" cy="508000"/>
          </a:xfrm>
          <a:prstGeom prst="roundRect">
            <a:avLst/>
          </a:prstGeom>
          <a:gradFill flip="none" rotWithShape="1">
            <a:gsLst>
              <a:gs pos="0">
                <a:srgbClr val="FFEEDD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AA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4. PLAN (Complex Tasks)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C016C77-1E21-063B-E102-DC10107F506B}"/>
              </a:ext>
            </a:extLst>
          </p:cNvPr>
          <p:cNvCxnSpPr/>
          <p:nvPr/>
        </p:nvCxnSpPr>
        <p:spPr>
          <a:xfrm>
            <a:off x="2540000" y="2730500"/>
            <a:ext cx="254000" cy="0"/>
          </a:xfrm>
          <a:prstGeom prst="line">
            <a:avLst/>
          </a:prstGeom>
          <a:ln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EEAB0604-B91E-DFC1-57CB-826F090390B8}"/>
              </a:ext>
            </a:extLst>
          </p:cNvPr>
          <p:cNvSpPr/>
          <p:nvPr/>
        </p:nvSpPr>
        <p:spPr>
          <a:xfrm>
            <a:off x="2794000" y="2476500"/>
            <a:ext cx="2032000" cy="508000"/>
          </a:xfrm>
          <a:prstGeom prst="roundRect">
            <a:avLst/>
          </a:prstGeom>
          <a:gradFill flip="none" rotWithShape="1">
            <a:gsLst>
              <a:gs pos="0">
                <a:srgbClr val="FFEEDD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AA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000000"/>
                </a:solidFill>
                <a:latin typeface="Aptos" panose="020B0004020202020204" pitchFamily="34" charset="0"/>
              </a:rPr>
              <a:t>5. EXECUTE (RAG, VLM, Tools)</a:t>
            </a:r>
            <a:endParaRPr lang="en-IN" sz="12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D0A7CE3-517E-0CB3-837E-A1D258451676}"/>
              </a:ext>
            </a:extLst>
          </p:cNvPr>
          <p:cNvCxnSpPr/>
          <p:nvPr/>
        </p:nvCxnSpPr>
        <p:spPr>
          <a:xfrm>
            <a:off x="4826000" y="2730500"/>
            <a:ext cx="254000" cy="0"/>
          </a:xfrm>
          <a:prstGeom prst="line">
            <a:avLst/>
          </a:prstGeom>
          <a:ln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DE47BA5B-6D54-5F96-30A9-6D76892EEDEA}"/>
              </a:ext>
            </a:extLst>
          </p:cNvPr>
          <p:cNvSpPr/>
          <p:nvPr/>
        </p:nvSpPr>
        <p:spPr>
          <a:xfrm>
            <a:off x="5080000" y="2476500"/>
            <a:ext cx="2032000" cy="508000"/>
          </a:xfrm>
          <a:prstGeom prst="roundRect">
            <a:avLst/>
          </a:prstGeom>
          <a:gradFill flip="none" rotWithShape="1">
            <a:gsLst>
              <a:gs pos="0">
                <a:srgbClr val="FFEEDD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AA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6. SYNTHESIZE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CC632DB-CC96-243E-B611-7771E319C769}"/>
              </a:ext>
            </a:extLst>
          </p:cNvPr>
          <p:cNvCxnSpPr/>
          <p:nvPr/>
        </p:nvCxnSpPr>
        <p:spPr>
          <a:xfrm>
            <a:off x="6096000" y="2984500"/>
            <a:ext cx="0" cy="317500"/>
          </a:xfrm>
          <a:prstGeom prst="line">
            <a:avLst/>
          </a:prstGeom>
          <a:ln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6874742E-4810-D240-72C6-BAE58EC3C6B5}"/>
              </a:ext>
            </a:extLst>
          </p:cNvPr>
          <p:cNvSpPr/>
          <p:nvPr/>
        </p:nvSpPr>
        <p:spPr>
          <a:xfrm>
            <a:off x="508000" y="3302000"/>
            <a:ext cx="2032000" cy="508000"/>
          </a:xfrm>
          <a:prstGeom prst="roundRect">
            <a:avLst/>
          </a:prstGeom>
          <a:gradFill flip="none" rotWithShape="1">
            <a:gsLst>
              <a:gs pos="0">
                <a:srgbClr val="FFEEDD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AA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7. VERIFY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0922921-8785-916F-442A-4199599BADAC}"/>
              </a:ext>
            </a:extLst>
          </p:cNvPr>
          <p:cNvCxnSpPr/>
          <p:nvPr/>
        </p:nvCxnSpPr>
        <p:spPr>
          <a:xfrm>
            <a:off x="2540000" y="3556000"/>
            <a:ext cx="254000" cy="0"/>
          </a:xfrm>
          <a:prstGeom prst="line">
            <a:avLst/>
          </a:prstGeom>
          <a:ln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EEAD1A1-6C26-1941-0271-0E2927C8D521}"/>
              </a:ext>
            </a:extLst>
          </p:cNvPr>
          <p:cNvSpPr/>
          <p:nvPr/>
        </p:nvSpPr>
        <p:spPr>
          <a:xfrm>
            <a:off x="2794000" y="3302000"/>
            <a:ext cx="2032000" cy="508000"/>
          </a:xfrm>
          <a:prstGeom prst="roundRect">
            <a:avLst/>
          </a:prstGeom>
          <a:gradFill flip="none" rotWithShape="1">
            <a:gsLst>
              <a:gs pos="0">
                <a:srgbClr val="FFEEDD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AA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8. RISK / HUMAN REVIEW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8C44F28-35A3-0C4E-36D5-E5CA38902D6C}"/>
              </a:ext>
            </a:extLst>
          </p:cNvPr>
          <p:cNvCxnSpPr/>
          <p:nvPr/>
        </p:nvCxnSpPr>
        <p:spPr>
          <a:xfrm>
            <a:off x="4826000" y="3556000"/>
            <a:ext cx="254000" cy="0"/>
          </a:xfrm>
          <a:prstGeom prst="line">
            <a:avLst/>
          </a:prstGeom>
          <a:ln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F454BE4-0373-A03F-D4C0-95061B915008}"/>
              </a:ext>
            </a:extLst>
          </p:cNvPr>
          <p:cNvSpPr/>
          <p:nvPr/>
        </p:nvSpPr>
        <p:spPr>
          <a:xfrm>
            <a:off x="5080000" y="3302000"/>
            <a:ext cx="2032000" cy="508000"/>
          </a:xfrm>
          <a:prstGeom prst="roundRect">
            <a:avLst/>
          </a:prstGeom>
          <a:gradFill flip="none" rotWithShape="1">
            <a:gsLst>
              <a:gs pos="0">
                <a:srgbClr val="FFEEDD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AA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9. OUTPUT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19C5C66E-8908-EB27-12E1-E96577EBAF48}"/>
              </a:ext>
            </a:extLst>
          </p:cNvPr>
          <p:cNvSpPr/>
          <p:nvPr/>
        </p:nvSpPr>
        <p:spPr>
          <a:xfrm>
            <a:off x="7493000" y="1651000"/>
            <a:ext cx="4064000" cy="4762500"/>
          </a:xfrm>
          <a:prstGeom prst="roundRect">
            <a:avLst/>
          </a:prstGeom>
          <a:gradFill flip="none" rotWithShape="1">
            <a:gsLst>
              <a:gs pos="0">
                <a:srgbClr val="F8F8F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0000"/>
                </a:solidFill>
                <a:latin typeface="Aptos" panose="020B0004020202020204" pitchFamily="34" charset="0"/>
              </a:rPr>
              <a:t>TECHNOLOGY STACK</a:t>
            </a:r>
          </a:p>
          <a:p>
            <a:pPr algn="ctr"/>
            <a:endParaRPr lang="en-IN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AI Models: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Qwen3:4B, Gemma3:4B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Qwen2.5-VL:3B</a:t>
            </a:r>
          </a:p>
          <a:p>
            <a:pPr algn="ctr"/>
            <a:endParaRPr lang="en-IN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Knowledge &amp; Search: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Nomic Embed, Qdrant</a:t>
            </a:r>
          </a:p>
          <a:p>
            <a:pPr algn="ctr"/>
            <a:endParaRPr lang="en-IN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Multimodal Processing: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EasyOCR, PyTorch, PDF/Image tools</a:t>
            </a:r>
          </a:p>
          <a:p>
            <a:pPr algn="ctr"/>
            <a:endParaRPr lang="en-IN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Agentic Framework: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LangGraph</a:t>
            </a:r>
          </a:p>
          <a:p>
            <a:pPr algn="ctr"/>
            <a:endParaRPr lang="en-IN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Execution Tools: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Python, Pandas / Excel, File tools</a:t>
            </a:r>
          </a:p>
          <a:p>
            <a:pPr algn="ctr"/>
            <a:endParaRPr lang="en-IN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Backend &amp; Outputs: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Python, FastAPI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DOCX, XLSX, PPTX, PDF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CE2692D9-622B-9C06-0DBF-C69FDDEF9F9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191000"/>
            <a:ext cx="2794000" cy="1905000"/>
          </a:xfrm>
          <a:prstGeom prst="rect">
            <a:avLst/>
          </a:prstGeom>
        </p:spPr>
      </p:pic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ECF6AF24-3410-511D-2A33-1849548F9875}"/>
              </a:ext>
            </a:extLst>
          </p:cNvPr>
          <p:cNvSpPr/>
          <p:nvPr/>
        </p:nvSpPr>
        <p:spPr>
          <a:xfrm>
            <a:off x="3556000" y="4191000"/>
            <a:ext cx="3556000" cy="1905000"/>
          </a:xfrm>
          <a:prstGeom prst="roundRect">
            <a:avLst/>
          </a:prstGeom>
          <a:gradFill flip="none" rotWithShape="1">
            <a:gsLst>
              <a:gs pos="0">
                <a:srgbClr val="F0F0FF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0000"/>
                </a:solidFill>
                <a:latin typeface="Aptos" panose="020B0004020202020204" pitchFamily="34" charset="0"/>
              </a:rPr>
              <a:t>WORKING PROTOTYPE:</a:t>
            </a:r>
          </a:p>
          <a:p>
            <a:pPr algn="ctr"/>
            <a:r>
              <a:rPr lang="en-US" sz="1300">
                <a:solidFill>
                  <a:srgbClr val="000000"/>
                </a:solidFill>
                <a:latin typeface="Aptos" panose="020B0004020202020204" pitchFamily="34" charset="0"/>
              </a:rPr>
              <a:t>Multimodal P&amp;ID Analysis</a:t>
            </a:r>
          </a:p>
          <a:p>
            <a:pPr algn="ctr"/>
            <a:r>
              <a:rPr lang="en-US" sz="1300">
                <a:solidFill>
                  <a:srgbClr val="000000"/>
                </a:solidFill>
                <a:latin typeface="Aptos" panose="020B0004020202020204" pitchFamily="34" charset="0"/>
              </a:rPr>
              <a:t>The system natively processes engineering drawings (like this P-101 pump diagram), links it with XLSX inspection data, and extracts relevant text from the Maintenance SOP.</a:t>
            </a:r>
            <a:endParaRPr lang="en-IN" sz="13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600" b="1">
                <a:solidFill>
                  <a:srgbClr val="2A6FB0"/>
                </a:solidFill>
                <a:latin typeface="Aptos"/>
              </a:rPr>
              <a:t>FEASIBILITY AND VIABILITY</a:t>
            </a:r>
            <a:endParaRPr sz="1600" b="1" dirty="0">
              <a:solidFill>
                <a:srgbClr val="2A6FB0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500" b="1">
                <a:solidFill>
                  <a:srgbClr val="18222A"/>
                </a:solidFill>
                <a:latin typeface="Aptos"/>
              </a:rPr>
              <a:t>Practical path to secure industrial deployment</a:t>
            </a:r>
            <a:endParaRPr sz="2500" b="1">
              <a:solidFill>
                <a:srgbClr val="18222A"/>
              </a:solidFill>
              <a:latin typeface="Apto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12063" y="1394366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07CC34-6FC8-9DA6-B7AA-E638A18F3DE4}"/>
              </a:ext>
            </a:extLst>
          </p:cNvPr>
          <p:cNvSpPr/>
          <p:nvPr/>
        </p:nvSpPr>
        <p:spPr>
          <a:xfrm>
            <a:off x="508000" y="1778000"/>
            <a:ext cx="3556000" cy="4572000"/>
          </a:xfrm>
          <a:prstGeom prst="roundRect">
            <a:avLst/>
          </a:prstGeom>
          <a:gradFill flip="none" rotWithShape="1">
            <a:gsLst>
              <a:gs pos="0">
                <a:srgbClr val="EFF7E6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006600"/>
                </a:solidFill>
                <a:latin typeface="Aptos" panose="020B0004020202020204" pitchFamily="34" charset="0"/>
              </a:rPr>
              <a:t>FEASIBLE NOW</a:t>
            </a:r>
          </a:p>
          <a:p>
            <a:pPr algn="ctr"/>
            <a:endParaRPr lang="en-IN" sz="14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Local LLM/VLM inference</a:t>
            </a:r>
          </a:p>
          <a:p>
            <a:pPr algn="ctr"/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Local RAG + Qdrant</a:t>
            </a:r>
          </a:p>
          <a:p>
            <a:pPr algn="ctr"/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Local OCR</a:t>
            </a:r>
          </a:p>
          <a:p>
            <a:pPr algn="ctr"/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Real PDF/image/XLSX processing</a:t>
            </a:r>
          </a:p>
          <a:p>
            <a:pPr algn="ctr"/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FastAPI browser workbench</a:t>
            </a:r>
          </a:p>
          <a:p>
            <a:pPr algn="ctr"/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Local document generation</a:t>
            </a:r>
          </a:p>
          <a:p>
            <a:pPr algn="ctr"/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Verification and risk pipeline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9A89F87-87D0-4793-36BE-94123D1E62AC}"/>
              </a:ext>
            </a:extLst>
          </p:cNvPr>
          <p:cNvSpPr/>
          <p:nvPr/>
        </p:nvSpPr>
        <p:spPr>
          <a:xfrm>
            <a:off x="4318000" y="1778000"/>
            <a:ext cx="3556000" cy="4572000"/>
          </a:xfrm>
          <a:prstGeom prst="roundRect">
            <a:avLst/>
          </a:prstGeom>
          <a:gradFill flip="none" rotWithShape="1">
            <a:gsLst>
              <a:gs pos="0">
                <a:srgbClr val="F2F2F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>
                <a:solidFill>
                  <a:srgbClr val="CC0000"/>
                </a:solidFill>
                <a:latin typeface="Aptos" panose="020B0004020202020204" pitchFamily="34" charset="0"/>
              </a:rPr>
              <a:t>CHALLENGES</a:t>
            </a:r>
          </a:p>
          <a:p>
            <a:pPr algn="ctr"/>
            <a:endParaRPr lang="en-IN" sz="14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Limited GPU VRAM on edge devices</a:t>
            </a:r>
          </a:p>
          <a:p>
            <a:pPr algn="ctr"/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Local inference latency vs Cloud</a:t>
            </a:r>
          </a:p>
          <a:p>
            <a:pPr algn="ctr"/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P&amp;ID/image quality dependency</a:t>
            </a:r>
          </a:p>
          <a:p>
            <a:pPr algn="ctr"/>
            <a:r>
              <a:rPr lang="en-IN" sz="1400">
                <a:solidFill>
                  <a:srgbClr val="000000"/>
                </a:solidFill>
                <a:latin typeface="Aptos" panose="020B0004020202020204" pitchFamily="34" charset="0"/>
              </a:rPr>
              <a:t>• Secure sandbox deployment (current local subprocess is not true isolation)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B755A3F-DC9E-DC39-AB6D-64C5B25301F4}"/>
              </a:ext>
            </a:extLst>
          </p:cNvPr>
          <p:cNvSpPr/>
          <p:nvPr/>
        </p:nvSpPr>
        <p:spPr>
          <a:xfrm>
            <a:off x="8128000" y="1778000"/>
            <a:ext cx="3556000" cy="4572000"/>
          </a:xfrm>
          <a:prstGeom prst="roundRect">
            <a:avLst/>
          </a:prstGeom>
          <a:gradFill flip="none" rotWithShape="1">
            <a:gsLst>
              <a:gs pos="0">
                <a:srgbClr val="FFF4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000CC"/>
                </a:solidFill>
                <a:latin typeface="Aptos" panose="020B0004020202020204" pitchFamily="34" charset="0"/>
              </a:rPr>
              <a:t>MITIGATION</a:t>
            </a:r>
          </a:p>
          <a:p>
            <a:pPr algn="ctr"/>
            <a:endParaRPr lang="en-US" sz="14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Fast capability routing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Lightweight open-weight models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Evidence-grounded generation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Verification + risk classification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Human review for high-risk outputs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Docker isolation for production deployment</a:t>
            </a:r>
            <a:endParaRPr lang="en-IN" sz="14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600" b="1">
                <a:solidFill>
                  <a:srgbClr val="2A6FB0"/>
                </a:solidFill>
                <a:latin typeface="Aptos"/>
              </a:rPr>
              <a:t>IMPACT AND BENEFITS</a:t>
            </a:r>
            <a:endParaRPr sz="1600" b="1">
              <a:solidFill>
                <a:srgbClr val="2A6FB0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500" b="1">
                <a:solidFill>
                  <a:srgbClr val="18222A"/>
                </a:solidFill>
                <a:latin typeface="Aptos"/>
              </a:rPr>
              <a:t>Accelerating industrial workflows with controlled AI</a:t>
            </a:r>
            <a:endParaRPr sz="2500" b="1">
              <a:solidFill>
                <a:srgbClr val="18222A"/>
              </a:solidFill>
              <a:latin typeface="Aptos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94360" y="1329053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AF65AA1-90EA-6F95-3CEE-D6CFE3707645}"/>
              </a:ext>
            </a:extLst>
          </p:cNvPr>
          <p:cNvSpPr/>
          <p:nvPr/>
        </p:nvSpPr>
        <p:spPr>
          <a:xfrm>
            <a:off x="508000" y="1651000"/>
            <a:ext cx="5334000" cy="4699000"/>
          </a:xfrm>
          <a:prstGeom prst="roundRect">
            <a:avLst/>
          </a:prstGeom>
          <a:gradFill flip="none" rotWithShape="1">
            <a:gsLst>
              <a:gs pos="0">
                <a:srgbClr val="F8F8F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00000"/>
                </a:solidFill>
                <a:latin typeface="Aptos" panose="020B0004020202020204" pitchFamily="34" charset="0"/>
              </a:rPr>
              <a:t>TARGET USERS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Maintenance engineers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Engineering teams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Process / operations teams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Industrial knowledge workers</a:t>
            </a:r>
          </a:p>
          <a:p>
            <a:pPr algn="ctr"/>
            <a:endParaRPr lang="en-US" sz="14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600" b="1">
                <a:solidFill>
                  <a:srgbClr val="000000"/>
                </a:solidFill>
                <a:latin typeface="Aptos" panose="020B0004020202020204" pitchFamily="34" charset="0"/>
              </a:rPr>
              <a:t>IMPACT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Faster access to institutional knowledge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Faster analysis of inspection and process data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Evidence-backed engineering assistance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Automated generation of structured reports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Better reuse of enterprise knowledge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ptos" panose="020B0004020202020204" pitchFamily="34" charset="0"/>
              </a:rPr>
              <a:t>• Controlled AI assistance for high-stakes workflows</a:t>
            </a:r>
            <a:endParaRPr lang="en-IN" sz="14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E5BF128-5936-C646-258F-BC14BAA5C1E4}"/>
              </a:ext>
            </a:extLst>
          </p:cNvPr>
          <p:cNvSpPr/>
          <p:nvPr/>
        </p:nvSpPr>
        <p:spPr>
          <a:xfrm>
            <a:off x="6096000" y="1651000"/>
            <a:ext cx="5461000" cy="4699000"/>
          </a:xfrm>
          <a:prstGeom prst="roundRect">
            <a:avLst/>
          </a:prstGeom>
          <a:gradFill flip="none" rotWithShape="1">
            <a:gsLst>
              <a:gs pos="0">
                <a:srgbClr val="FFF4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000000"/>
                </a:solidFill>
                <a:latin typeface="Aptos" panose="020B0004020202020204" pitchFamily="34" charset="0"/>
              </a:rPr>
              <a:t>KEY BENEFITS</a:t>
            </a:r>
          </a:p>
          <a:p>
            <a:pPr algn="ctr"/>
            <a:endParaRPr lang="en-US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300" b="1">
                <a:solidFill>
                  <a:srgbClr val="000000"/>
                </a:solidFill>
                <a:latin typeface="Aptos" panose="020B0004020202020204" pitchFamily="34" charset="0"/>
              </a:rPr>
              <a:t>SECURITY / CONTROL</a:t>
            </a:r>
          </a:p>
          <a:p>
            <a:pPr algn="ctr"/>
            <a:r>
              <a:rPr lang="en-US" sz="1300">
                <a:solidFill>
                  <a:srgbClr val="000000"/>
                </a:solidFill>
                <a:latin typeface="Aptos" panose="020B0004020202020204" pitchFamily="34" charset="0"/>
              </a:rPr>
              <a:t>Confidential knowledge can remain on enterprise infrastructure.</a:t>
            </a:r>
          </a:p>
          <a:p>
            <a:pPr algn="ctr"/>
            <a:endParaRPr lang="en-US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300" b="1">
                <a:solidFill>
                  <a:srgbClr val="000000"/>
                </a:solidFill>
                <a:latin typeface="Aptos" panose="020B0004020202020204" pitchFamily="34" charset="0"/>
              </a:rPr>
              <a:t>PRODUCTIVITY</a:t>
            </a:r>
          </a:p>
          <a:p>
            <a:pPr algn="ctr"/>
            <a:r>
              <a:rPr lang="en-US" sz="1300">
                <a:solidFill>
                  <a:srgbClr val="000000"/>
                </a:solidFill>
                <a:latin typeface="Aptos" panose="020B0004020202020204" pitchFamily="34" charset="0"/>
              </a:rPr>
              <a:t>Reduces manual effort across document, spreadsheet and knowledge workflows.</a:t>
            </a:r>
          </a:p>
          <a:p>
            <a:pPr algn="ctr"/>
            <a:endParaRPr lang="en-US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300" b="1">
                <a:solidFill>
                  <a:srgbClr val="000000"/>
                </a:solidFill>
                <a:latin typeface="Aptos" panose="020B0004020202020204" pitchFamily="34" charset="0"/>
              </a:rPr>
              <a:t>ENGINEERING SUPPORT</a:t>
            </a:r>
          </a:p>
          <a:p>
            <a:pPr algn="ctr"/>
            <a:r>
              <a:rPr lang="en-US" sz="1300">
                <a:solidFill>
                  <a:srgbClr val="000000"/>
                </a:solidFill>
                <a:latin typeface="Aptos" panose="020B0004020202020204" pitchFamily="34" charset="0"/>
              </a:rPr>
              <a:t>Connects drawings, reports, procedures and structured data in one workflow.</a:t>
            </a:r>
          </a:p>
          <a:p>
            <a:pPr algn="ctr"/>
            <a:endParaRPr lang="en-US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300" b="1">
                <a:solidFill>
                  <a:srgbClr val="000000"/>
                </a:solidFill>
                <a:latin typeface="Aptos" panose="020B0004020202020204" pitchFamily="34" charset="0"/>
              </a:rPr>
              <a:t>KNOWLEDGE RETENTION</a:t>
            </a:r>
          </a:p>
          <a:p>
            <a:pPr algn="ctr"/>
            <a:r>
              <a:rPr lang="en-US" sz="1300">
                <a:solidFill>
                  <a:srgbClr val="000000"/>
                </a:solidFill>
                <a:latin typeface="Aptos" panose="020B0004020202020204" pitchFamily="34" charset="0"/>
              </a:rPr>
              <a:t>Makes enterprise manuals, SOPs and historical records easier to use.</a:t>
            </a:r>
          </a:p>
          <a:p>
            <a:pPr algn="ctr"/>
            <a:endParaRPr lang="en-US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300" b="1">
                <a:solidFill>
                  <a:srgbClr val="000000"/>
                </a:solidFill>
                <a:latin typeface="Aptos" panose="020B0004020202020204" pitchFamily="34" charset="0"/>
              </a:rPr>
              <a:t>DECISION SUPPORT</a:t>
            </a:r>
          </a:p>
          <a:p>
            <a:pPr algn="ctr"/>
            <a:r>
              <a:rPr lang="en-US" sz="1300">
                <a:solidFill>
                  <a:srgbClr val="000000"/>
                </a:solidFill>
                <a:latin typeface="Aptos" panose="020B0004020202020204" pitchFamily="34" charset="0"/>
              </a:rPr>
              <a:t>Adds verification, risk classification and human review instead of autonomous uncontrolled decisions.</a:t>
            </a:r>
            <a:endParaRPr lang="en-IN" sz="13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2743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600" b="1">
                <a:solidFill>
                  <a:srgbClr val="2A6FB0"/>
                </a:solidFill>
                <a:latin typeface="Aptos"/>
              </a:rPr>
              <a:t>RESEARCH AND REFERENCES</a:t>
            </a:r>
            <a:endParaRPr sz="1600" b="1">
              <a:solidFill>
                <a:srgbClr val="2A6FB0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24128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500" b="1">
                <a:solidFill>
                  <a:srgbClr val="18222A"/>
                </a:solidFill>
                <a:latin typeface="Aptos"/>
              </a:rPr>
              <a:t>Industrial datasets and core AI technology stack</a:t>
            </a:r>
            <a:endParaRPr sz="2500" b="1">
              <a:solidFill>
                <a:srgbClr val="18222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383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B6974"/>
                </a:solidFill>
                <a:latin typeface="Aptos"/>
              </a:rPr>
              <a:t>06 / 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170432"/>
            <a:ext cx="10972800" cy="0"/>
          </a:xfrm>
          <a:prstGeom prst="line">
            <a:avLst/>
          </a:prstGeom>
          <a:ln w="15240">
            <a:solidFill>
              <a:srgbClr val="DA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59C7F88-DC81-B2FF-A18F-9CDACE236BBC}"/>
              </a:ext>
            </a:extLst>
          </p:cNvPr>
          <p:cNvSpPr/>
          <p:nvPr/>
        </p:nvSpPr>
        <p:spPr>
          <a:xfrm>
            <a:off x="508000" y="1651000"/>
            <a:ext cx="6096000" cy="4572000"/>
          </a:xfrm>
          <a:prstGeom prst="roundRect">
            <a:avLst/>
          </a:prstGeom>
          <a:gradFill flip="none" rotWithShape="1">
            <a:gsLst>
              <a:gs pos="0">
                <a:srgbClr val="F8F8F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rgbClr val="000000"/>
                </a:solidFill>
                <a:latin typeface="Aptos" panose="020B0004020202020204" pitchFamily="34" charset="0"/>
              </a:rPr>
              <a:t>RESEARCH / EVALUATION DATASETS</a:t>
            </a:r>
          </a:p>
          <a:p>
            <a:pPr algn="ctr"/>
            <a:r>
              <a:rPr lang="en-IN" sz="1200" i="1">
                <a:solidFill>
                  <a:srgbClr val="FF0000"/>
                </a:solidFill>
                <a:latin typeface="Aptos" panose="020B0004020202020204" pitchFamily="34" charset="0"/>
              </a:rPr>
              <a:t>* Note: These datasets are for system evaluation/benchmarking, not LLM fine-tuning.</a:t>
            </a:r>
          </a:p>
          <a:p>
            <a:pPr algn="ctr"/>
            <a:endParaRPr lang="en-IN" sz="1200" i="1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200" i="1">
                <a:solidFill>
                  <a:srgbClr val="FF0000"/>
                </a:solidFill>
                <a:latin typeface="Aptos" panose="020B0004020202020204" pitchFamily="34" charset="0"/>
              </a:rPr>
              <a:t>• </a:t>
            </a:r>
            <a:r>
              <a:rPr lang="en-IN" sz="1200" b="1" i="1">
                <a:solidFill>
                  <a:srgbClr val="FF0000"/>
                </a:solidFill>
                <a:latin typeface="Aptos" panose="020B0004020202020204" pitchFamily="34" charset="0"/>
              </a:rPr>
              <a:t>Ten</a:t>
            </a:r>
            <a:r>
              <a:rPr lang="en-IN" sz="1200" b="1">
                <a:solidFill>
                  <a:srgbClr val="000000"/>
                </a:solidFill>
                <a:latin typeface="Aptos" panose="020B0004020202020204" pitchFamily="34" charset="0"/>
              </a:rPr>
              <a:t>nessee Eastman Process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  For industrial process fault detection and decision-support evaluation.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• </a:t>
            </a:r>
            <a:r>
              <a:rPr lang="en-IN" sz="1200" b="1">
                <a:solidFill>
                  <a:srgbClr val="000000"/>
                </a:solidFill>
                <a:latin typeface="Aptos" panose="020B0004020202020204" pitchFamily="34" charset="0"/>
              </a:rPr>
              <a:t>Centrifugal Pump Multi-Fault Vibration Dataset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  For pump condition monitoring and fault diagnosis evaluation.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• </a:t>
            </a:r>
            <a:r>
              <a:rPr lang="en-IN" sz="1200" b="1">
                <a:solidFill>
                  <a:srgbClr val="000000"/>
                </a:solidFill>
                <a:latin typeface="Aptos" panose="020B0004020202020204" pitchFamily="34" charset="0"/>
              </a:rPr>
              <a:t>PIDQA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  For P&amp;ID question answering and spatial/relationship reasoning evaluation.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• </a:t>
            </a:r>
            <a:r>
              <a:rPr lang="en-IN" sz="1200" b="1">
                <a:solidFill>
                  <a:srgbClr val="000000"/>
                </a:solidFill>
                <a:latin typeface="Aptos" panose="020B0004020202020204" pitchFamily="34" charset="0"/>
              </a:rPr>
              <a:t>PID2Graph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  For P&amp;ID graph/relationship reasoning evaluation.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• </a:t>
            </a:r>
            <a:r>
              <a:rPr lang="en-IN" sz="1200" b="1">
                <a:solidFill>
                  <a:srgbClr val="000000"/>
                </a:solidFill>
                <a:latin typeface="Aptos" panose="020B0004020202020204" pitchFamily="34" charset="0"/>
              </a:rPr>
              <a:t>NASA IMS Bearings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  For bearing fault/condition-monitoring evaluation.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• </a:t>
            </a:r>
            <a:r>
              <a:rPr lang="en-IN" sz="1200" b="1">
                <a:solidFill>
                  <a:srgbClr val="000000"/>
                </a:solidFill>
                <a:latin typeface="Aptos" panose="020B0004020202020204" pitchFamily="34" charset="0"/>
              </a:rPr>
              <a:t>AI4I 2020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Aptos" panose="020B0004020202020204" pitchFamily="34" charset="0"/>
              </a:rPr>
              <a:t>  For industrial predictive-maintenance evaluation.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E8E0274-B24C-7CD8-C854-6C7AC38693FB}"/>
              </a:ext>
            </a:extLst>
          </p:cNvPr>
          <p:cNvSpPr/>
          <p:nvPr/>
        </p:nvSpPr>
        <p:spPr>
          <a:xfrm>
            <a:off x="6858000" y="1651000"/>
            <a:ext cx="4826000" cy="4572000"/>
          </a:xfrm>
          <a:prstGeom prst="roundRect">
            <a:avLst/>
          </a:prstGeom>
          <a:gradFill flip="none" rotWithShape="1">
            <a:gsLst>
              <a:gs pos="0">
                <a:srgbClr val="FFF4F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solidFill>
                  <a:srgbClr val="000000"/>
                </a:solidFill>
                <a:latin typeface="Aptos" panose="020B0004020202020204" pitchFamily="34" charset="0"/>
              </a:rPr>
              <a:t>TECHNICAL REFERENCES</a:t>
            </a:r>
          </a:p>
          <a:p>
            <a:pPr algn="ctr"/>
            <a:endParaRPr lang="en-IN" sz="130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Ollama (Local Model Serving)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Qdrant (Vector Database)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LangGraph (Agentic Framework)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EasyOCR (Optical Character Recognition)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Qwen / Qwen2.5-VL (Open-Weight Models)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Nomic Embed (Text Embedding)</a:t>
            </a:r>
          </a:p>
          <a:p>
            <a:pPr algn="ctr"/>
            <a:r>
              <a:rPr lang="en-IN" sz="1300">
                <a:solidFill>
                  <a:srgbClr val="000000"/>
                </a:solidFill>
                <a:latin typeface="Aptos" panose="020B0004020202020204" pitchFamily="34" charset="0"/>
              </a:rPr>
              <a:t>• Relevant academic research on P&amp;ID digitization and Multimodal LLMs in industrial contexts.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7627</TotalTime>
  <Words>804</Words>
  <Application>Microsoft Office PowerPoint</Application>
  <PresentationFormat>Widescreen</PresentationFormat>
  <Paragraphs>166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SOVARA — SIH 2026 Light Theme</dc:title>
  <dc:subject>Sovereign On-Premise Agentic AI Workbench</dc:subject>
  <dc:creator>Crowdfunder</dc:creator>
  <cp:keywords/>
  <dc:description/>
  <cp:lastModifiedBy>Satvik Ganda</cp:lastModifiedBy>
  <cp:revision>156</cp:revision>
  <dcterms:created xsi:type="dcterms:W3CDTF">2013-12-12T18:46:50Z</dcterms:created>
  <dcterms:modified xsi:type="dcterms:W3CDTF">2026-09-11T10:28:34Z</dcterms:modified>
  <cp:category/>
</cp:coreProperties>
</file>